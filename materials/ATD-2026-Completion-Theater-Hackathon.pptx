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ns0:notes xmlns:ns0="http://schemas.openxmlformats.org/presentationml/2006/main" xmlns:ns1="http://schemas.openxmlformats.org/drawingml/2006/main" showMasterPhAnim="0" showMasterSp="0">
  <ns0:cSld>
    <ns0:spTree>
      <ns0:nvGrpSpPr>
        <ns0:cNvPr id="11" name="Shape 11"/>
        <ns0:cNvGrpSpPr/>
        <ns0:nvPr/>
      </ns0:nvGrpSpPr>
      <ns0:grpSpPr>
        <ns1:xfrm>
          <ns1:off x="0" y="0"/>
          <ns1:ext cx="0" cy="0"/>
          <ns1:chOff x="0" y="0"/>
          <ns1:chExt cx="0" cy="0"/>
        </ns1:xfrm>
      </ns0:grpSpPr>
      <ns0:sp>
        <ns0:nvSpPr>
          <ns0:cNvPr id="12" name="Google Shape;12;hack_01:notes"/>
          <ns0:cNvSpPr/>
          <ns0:nvPr>
            <ns0:ph idx="2" type="sldImg"/>
          </ns0:nvPr>
        </ns0:nvSpPr>
        <ns0:spPr>
          <ns1:xfrm>
            <ns1:off x="685800" y="1143000"/>
            <ns1:ext cx="5486400" cy="3086100"/>
          </ns1:xfrm>
          <ns1:custGeom>
            <ns1:rect b="b" l="l" r="r" t="t"/>
            <ns1:pathLst>
              <ns1:path extrusionOk="0" h="120000" w="120000">
                <ns1:moveTo>
                  <ns1:pt x="0" y="0"/>
                </ns1:moveTo>
                <ns1:lnTo>
                  <ns1:pt x="120000" y="0"/>
                </ns1:lnTo>
                <ns1:lnTo>
                  <ns1:pt x="120000" y="120000"/>
                </ns1:lnTo>
                <ns1:lnTo>
                  <ns1:pt x="0" y="120000"/>
                </ns1:lnTo>
                <ns1:close/>
              </ns1:path>
            </ns1:pathLst>
          </ns1:custGeom>
          <ns1:noFill/>
          <ns1:ln cap="flat" cmpd="sng" w="12700">
            <ns1:solidFill>
              <ns1:srgbClr val="000000"/>
            </ns1:solidFill>
            <ns1:prstDash val="solid"/>
            <ns1:round/>
            <ns1:headEnd len="sm" w="sm" type="none"/>
            <ns1:tailEnd len="sm" w="sm" type="none"/>
          </ns1:ln>
        </ns0:spPr>
      </ns0:sp>
      <ns0:sp>
        <ns0:nvSpPr>
          <ns0:cNvPr id="13" name="Google Shape;13;hack_01:notes"/>
          <ns0:cNvSpPr txBox="1"/>
          <ns0:nvPr>
            <ns0:ph idx="1" type="body"/>
          </ns0:nvPr>
        </ns0:nvSpPr>
        <ns0:spPr>
          <ns1:xfrm>
            <ns1:off x="685800" y="4400550"/>
            <ns1:ext cx="5486400" cy="3600600"/>
          </ns1:xfrm>
          <ns1:prstGeom prst="rect">
            <ns1:avLst/>
          </ns1:prstGeom>
          <ns1:noFill/>
          <ns1:ln>
            <ns1:noFill/>
          </ns1:ln>
        </ns0:spPr>
        <ns0:txBody>
          <ns1:bodyPr anchorCtr="0" anchor="t" bIns="45700" lIns="91425" spcFirstLastPara="1" rIns="91425" wrap="square" tIns="45700">
            <ns1:noAutofit/>
          </ns1:bodyPr>
          <ns1:lstStyle/>
          <ns1:p>
            <ns1:pPr indent="0" lvl="0" marL="0" rtl="0" algn="l">
              <ns1:spcBef>
                <ns1:spcPts val="0"/>
              </ns1:spcBef>
              <ns1:spcAft>
                <ns1:spcPts val="0"/>
              </ns1:spcAft>
              <ns1:buNone/>
            </ns1:pPr>
            <ns1:r>
              <ns1:rPr lang="en-US"/>
              <ns1:t>20:15. Welcome. Dragan Spiridonov and Lalitkumar Bhamare co-facilitate. We will build for 60 minutes and spend the rest of the evening proving and challenging the work. Tonight's focus is the gap between a completion claim and the delivered behavior. Rewards remain undecided; do not name a product or promise an entitlement. Source: HUSTEF Completion Theater Talk, slide 1, adapted for ATD.</ns1:t>
            </ns1:r>
            <ns1:endParaRPr/>
          </ns1:p>
        </ns0:txBody>
      </ns0:sp>
      <ns0:sp>
        <ns0:nvSpPr>
          <ns0:cNvPr id="14" name="Google Shape;14;hack_01:notes"/>
          <ns0:cNvSpPr txBox="1"/>
          <ns0:nvPr>
            <ns0:ph idx="12" type="sldNum"/>
          </ns0:nvPr>
        </ns0:nvSpPr>
        <ns0:spPr>
          <ns1:xfrm>
            <ns1:off x="3884613" y="8685213"/>
            <ns1:ext cx="2971800" cy="458700"/>
          </ns1:xfrm>
          <ns1:prstGeom prst="rect">
            <ns1:avLst/>
          </ns1:prstGeom>
          <ns1:noFill/>
          <ns1:ln>
            <ns1:noFill/>
          </ns1:ln>
        </ns0:spPr>
        <ns0:txBody>
          <ns1:bodyPr anchorCtr="0" anchor="b" bIns="45700" lIns="91425" spcFirstLastPara="1" rIns="91425" wrap="square" tIns="45700">
            <ns1:noAutofit/>
          </ns1:bodyPr>
          <ns1:lstStyle/>
          <ns1:p>
            <ns1:pPr indent="0" lvl="0" marL="0" rtl="0" algn="r">
              <ns1:spcBef>
                <ns1:spcPts val="0"/>
              </ns1:spcBef>
              <ns1:spcAft>
                <ns1:spcPts val="0"/>
              </ns1:spcAft>
              <ns1:buNone/>
            </ns1:pPr>
            <ns1:fld id="{00000000-1234-1234-1234-123412341234}" type="slidenum">
              <ns1:rPr lang="en-US"/>
              <ns1:t>‹#›</ns1:t>
            </ns1:fld>
            <ns1:endParaRPr/>
          </ns1:p>
        </ns0:txBody>
      </ns0:sp>
    </ns0:spTree>
  </ns0:cSld>
  <ns0:clrMapOvr>
    <ns1:masterClrMapping/>
  </ns0:clrMapOvr>
</ns0:notes>
</file>

<file path=ppt/notesSlides/notesSlide2.xml><?xml version="1.0" encoding="utf-8"?>
<ns0:notes xmlns:ns0="http://schemas.openxmlformats.org/presentationml/2006/main" xmlns:ns1="http://schemas.openxmlformats.org/drawingml/2006/main" showMasterPhAnim="0" showMasterSp="0">
  <ns0:cSld>
    <ns0:spTree>
      <ns0:nvGrpSpPr>
        <ns0:cNvPr id="20" name="Shape 20"/>
        <ns0:cNvGrpSpPr/>
        <ns0:nvPr/>
      </ns0:nvGrpSpPr>
      <ns0:grpSpPr>
        <ns1:xfrm>
          <ns1:off x="0" y="0"/>
          <ns1:ext cx="0" cy="0"/>
          <ns1:chOff x="0" y="0"/>
          <ns1:chExt cx="0" cy="0"/>
        </ns1:xfrm>
      </ns0:grpSpPr>
      <ns0:sp>
        <ns0:nvSpPr>
          <ns0:cNvPr id="21" name="Google Shape;21;hack_02:notes"/>
          <ns0:cNvSpPr/>
          <ns0:nvPr>
            <ns0:ph idx="2" type="sldImg"/>
          </ns0:nvPr>
        </ns0:nvSpPr>
        <ns0:spPr>
          <ns1:xfrm>
            <ns1:off x="685800" y="1143000"/>
            <ns1:ext cx="5486400" cy="3086100"/>
          </ns1:xfrm>
          <ns1:custGeom>
            <ns1:rect b="b" l="l" r="r" t="t"/>
            <ns1:pathLst>
              <ns1:path extrusionOk="0" h="120000" w="120000">
                <ns1:moveTo>
                  <ns1:pt x="0" y="0"/>
                </ns1:moveTo>
                <ns1:lnTo>
                  <ns1:pt x="120000" y="0"/>
                </ns1:lnTo>
                <ns1:lnTo>
                  <ns1:pt x="120000" y="120000"/>
                </ns1:lnTo>
                <ns1:lnTo>
                  <ns1:pt x="0" y="120000"/>
                </ns1:lnTo>
                <ns1:close/>
              </ns1:path>
            </ns1:pathLst>
          </ns1:custGeom>
          <ns1:noFill/>
          <ns1:ln cap="flat" cmpd="sng" w="12700">
            <ns1:solidFill>
              <ns1:srgbClr val="000000"/>
            </ns1:solidFill>
            <ns1:prstDash val="solid"/>
            <ns1:round/>
            <ns1:headEnd len="sm" w="sm" type="none"/>
            <ns1:tailEnd len="sm" w="sm" type="none"/>
          </ns1:ln>
        </ns0:spPr>
      </ns0:sp>
      <ns0:sp>
        <ns0:nvSpPr>
          <ns0:cNvPr id="22" name="Google Shape;22;hack_02:notes"/>
          <ns0:cNvSpPr txBox="1"/>
          <ns0:nvPr>
            <ns0:ph idx="1" type="body"/>
          </ns0:nvPr>
        </ns0:nvSpPr>
        <ns0:spPr>
          <ns1:xfrm>
            <ns1:off x="685800" y="4400550"/>
            <ns1:ext cx="5486400" cy="3600600"/>
          </ns1:xfrm>
          <ns1:prstGeom prst="rect">
            <ns1:avLst/>
          </ns1:prstGeom>
          <ns1:noFill/>
          <ns1:ln>
            <ns1:noFill/>
          </ns1:ln>
        </ns0:spPr>
        <ns0:txBody>
          <ns1:bodyPr anchorCtr="0" anchor="t" bIns="45700" lIns="91425" spcFirstLastPara="1" rIns="91425" wrap="square" tIns="45700">
            <ns1:noAutofit/>
          </ns1:bodyPr>
          <ns1:lstStyle/>
          <ns1:p>
            <ns1:pPr indent="0" lvl="0" marL="0" rtl="0" algn="l">
              <ns1:spcBef>
                <ns1:spcPts val="0"/>
              </ns1:spcBef>
              <ns1:spcAft>
                <ns1:spcPts val="0"/>
              </ns1:spcAft>
              <ns1:buNone/>
            </ns1:pPr>
            <ns1:r>
              <ns1:rPr lang="en-US"/>
              <ns1:t>20:16–20:18. Show the confident agent report and the empty tests directory. Treat this as an illustrative claim to challenge, not as a statistic from tonight. Ask: what single observable check would change your confidence? Source: HUSTEF Completion Theater Talk, slide 2, reused.</ns1:t>
            </ns1:r>
            <ns1:endParaRPr/>
          </ns1:p>
        </ns0:txBody>
      </ns0:sp>
      <ns0:sp>
        <ns0:nvSpPr>
          <ns0:cNvPr id="23" name="Google Shape;23;hack_02:notes"/>
          <ns0:cNvSpPr txBox="1"/>
          <ns0:nvPr>
            <ns0:ph idx="12" type="sldNum"/>
          </ns0:nvPr>
        </ns0:nvSpPr>
        <ns0:spPr>
          <ns1:xfrm>
            <ns1:off x="3884613" y="8685213"/>
            <ns1:ext cx="2971800" cy="458700"/>
          </ns1:xfrm>
          <ns1:prstGeom prst="rect">
            <ns1:avLst/>
          </ns1:prstGeom>
          <ns1:noFill/>
          <ns1:ln>
            <ns1:noFill/>
          </ns1:ln>
        </ns0:spPr>
        <ns0:txBody>
          <ns1:bodyPr anchorCtr="0" anchor="b" bIns="45700" lIns="91425" spcFirstLastPara="1" rIns="91425" wrap="square" tIns="45700">
            <ns1:noAutofit/>
          </ns1:bodyPr>
          <ns1:lstStyle/>
          <ns1:p>
            <ns1:pPr indent="0" lvl="0" marL="0" rtl="0" algn="r">
              <ns1:spcBef>
                <ns1:spcPts val="0"/>
              </ns1:spcBef>
              <ns1:spcAft>
                <ns1:spcPts val="0"/>
              </ns1:spcAft>
              <ns1:buNone/>
            </ns1:pPr>
            <ns1:fld id="{00000000-1234-1234-1234-123412341234}" type="slidenum">
              <ns1:rPr lang="en-US"/>
              <ns1:t>‹#›</ns1:t>
            </ns1:fld>
            <ns1:endParaRPr/>
          </ns1:p>
        </ns0:txBody>
      </ns0:sp>
    </ns0:spTree>
  </ns0:cSld>
  <ns0:clrMapOvr>
    <ns1:masterClrMapping/>
  </ns0:clrMapOvr>
</ns0:notes>
</file>

<file path=ppt/notesSlides/notesSlide3.xml><?xml version="1.0" encoding="utf-8"?>
<ns0:notes xmlns:ns0="http://schemas.openxmlformats.org/presentationml/2006/main" xmlns:ns1="http://schemas.openxmlformats.org/drawingml/2006/main" showMasterPhAnim="0" showMasterSp="0">
  <ns0:cSld>
    <ns0:spTree>
      <ns0:nvGrpSpPr>
        <ns0:cNvPr id="33" name="Shape 33"/>
        <ns0:cNvGrpSpPr/>
        <ns0:nvPr/>
      </ns0:nvGrpSpPr>
      <ns0:grpSpPr>
        <ns1:xfrm>
          <ns1:off x="0" y="0"/>
          <ns1:ext cx="0" cy="0"/>
          <ns1:chOff x="0" y="0"/>
          <ns1:chExt cx="0" cy="0"/>
        </ns1:xfrm>
      </ns0:grpSpPr>
      <ns0:sp>
        <ns0:nvSpPr>
          <ns0:cNvPr id="34" name="Google Shape;34;hack_03:notes"/>
          <ns0:cNvSpPr/>
          <ns0:nvPr>
            <ns0:ph idx="2" type="sldImg"/>
          </ns0:nvPr>
        </ns0:nvSpPr>
        <ns0:spPr>
          <ns1:xfrm>
            <ns1:off x="685800" y="1143000"/>
            <ns1:ext cx="5486400" cy="3086100"/>
          </ns1:xfrm>
          <ns1:custGeom>
            <ns1:rect b="b" l="l" r="r" t="t"/>
            <ns1:pathLst>
              <ns1:path extrusionOk="0" h="120000" w="120000">
                <ns1:moveTo>
                  <ns1:pt x="0" y="0"/>
                </ns1:moveTo>
                <ns1:lnTo>
                  <ns1:pt x="120000" y="0"/>
                </ns1:lnTo>
                <ns1:lnTo>
                  <ns1:pt x="120000" y="120000"/>
                </ns1:lnTo>
                <ns1:lnTo>
                  <ns1:pt x="0" y="120000"/>
                </ns1:lnTo>
                <ns1:close/>
              </ns1:path>
            </ns1:pathLst>
          </ns1:custGeom>
          <ns1:noFill/>
          <ns1:ln cap="flat" cmpd="sng" w="12700">
            <ns1:solidFill>
              <ns1:srgbClr val="000000"/>
            </ns1:solidFill>
            <ns1:prstDash val="solid"/>
            <ns1:round/>
            <ns1:headEnd len="sm" w="sm" type="none"/>
            <ns1:tailEnd len="sm" w="sm" type="none"/>
          </ns1:ln>
        </ns0:spPr>
      </ns0:sp>
      <ns0:sp>
        <ns0:nvSpPr>
          <ns0:cNvPr id="35" name="Google Shape;35;hack_03:notes"/>
          <ns0:cNvSpPr txBox="1"/>
          <ns0:nvPr>
            <ns0:ph idx="1" type="body"/>
          </ns0:nvPr>
        </ns0:nvSpPr>
        <ns0:spPr>
          <ns1:xfrm>
            <ns1:off x="685800" y="4400550"/>
            <ns1:ext cx="5486400" cy="3600600"/>
          </ns1:xfrm>
          <ns1:prstGeom prst="rect">
            <ns1:avLst/>
          </ns1:prstGeom>
          <ns1:noFill/>
          <ns1:ln>
            <ns1:noFill/>
          </ns1:ln>
        </ns0:spPr>
        <ns0:txBody>
          <ns1:bodyPr anchorCtr="0" anchor="t" bIns="45700" lIns="91425" spcFirstLastPara="1" rIns="91425" wrap="square" tIns="45700">
            <ns1:noAutofit/>
          </ns1:bodyPr>
          <ns1:lstStyle/>
          <ns1:p>
            <ns1:pPr indent="0" lvl="0" marL="0" rtl="0" algn="l">
              <ns1:spcBef>
                <ns1:spcPts val="0"/>
              </ns1:spcBef>
              <ns1:spcAft>
                <ns1:spcPts val="0"/>
              </ns1:spcAft>
              <ns1:buNone/>
            </ns1:pPr>
            <ns1:r>
              <ns1:rPr lang="en-US"/>
              <ns1:t>20:18–20:23. About one minute per pattern. Ghost Database: prove persisted state across restart. Metric Theater: trace counts to raw tool output. Test Theater: deliberately break a behavior in a copy and make a meaningful check fail. False Positives: expose skipped work and propagated exit status. Uncommitted Illusion: verify the delivered snapshot contains what was demonstrated; an archive is acceptable, no push is required. Source: HUSTEF Completion Theater Talk, slide 7. </ns1:t>
            </ns1:r>
            <ns1:endParaRPr/>
          </ns1:p>
        </ns0:txBody>
      </ns0:sp>
      <ns0:sp>
        <ns0:nvSpPr>
          <ns0:cNvPr id="36" name="Google Shape;36;hack_03:notes"/>
          <ns0:cNvSpPr txBox="1"/>
          <ns0:nvPr>
            <ns0:ph idx="12" type="sldNum"/>
          </ns0:nvPr>
        </ns0:nvSpPr>
        <ns0:spPr>
          <ns1:xfrm>
            <ns1:off x="3884613" y="8685213"/>
            <ns1:ext cx="2971800" cy="458700"/>
          </ns1:xfrm>
          <ns1:prstGeom prst="rect">
            <ns1:avLst/>
          </ns1:prstGeom>
          <ns1:noFill/>
          <ns1:ln>
            <ns1:noFill/>
          </ns1:ln>
        </ns0:spPr>
        <ns0:txBody>
          <ns1:bodyPr anchorCtr="0" anchor="b" bIns="45700" lIns="91425" spcFirstLastPara="1" rIns="91425" wrap="square" tIns="45700">
            <ns1:noAutofit/>
          </ns1:bodyPr>
          <ns1:lstStyle/>
          <ns1:p>
            <ns1:pPr indent="0" lvl="0" marL="0" rtl="0" algn="r">
              <ns1:spcBef>
                <ns1:spcPts val="0"/>
              </ns1:spcBef>
              <ns1:spcAft>
                <ns1:spcPts val="0"/>
              </ns1:spcAft>
              <ns1:buNone/>
            </ns1:pPr>
            <ns1:fld id="{00000000-1234-1234-1234-123412341234}" type="slidenum">
              <ns1:rPr lang="en-US"/>
              <ns1:t>‹#›</ns1:t>
            </ns1:fld>
            <ns1:endParaRPr/>
          </ns1:p>
        </ns0:txBody>
      </ns0:sp>
    </ns0:spTree>
  </ns0:cSld>
  <ns0:clrMapOvr>
    <ns1:masterClrMapping/>
  </ns0:clrMapOvr>
</ns0:notes>
</file>

<file path=ppt/notesSlides/notesSlide4.xml><?xml version="1.0" encoding="utf-8"?>
<ns0:notes xmlns:ns0="http://schemas.openxmlformats.org/presentationml/2006/main" xmlns:ns1="http://schemas.openxmlformats.org/drawingml/2006/main" showMasterPhAnim="0" showMasterSp="0">
  <ns0:cSld>
    <ns0:spTree>
      <ns0:nvGrpSpPr>
        <ns0:cNvPr id="62" name="Shape 62"/>
        <ns0:cNvGrpSpPr/>
        <ns0:nvPr/>
      </ns0:nvGrpSpPr>
      <ns0:grpSpPr>
        <ns1:xfrm>
          <ns1:off x="0" y="0"/>
          <ns1:ext cx="0" cy="0"/>
          <ns1:chOff x="0" y="0"/>
          <ns1:chExt cx="0" cy="0"/>
        </ns1:xfrm>
      </ns0:grpSpPr>
      <ns0:sp>
        <ns0:nvSpPr>
          <ns0:cNvPr id="63" name="Google Shape;63;hack_04:notes"/>
          <ns0:cNvSpPr/>
          <ns0:nvPr>
            <ns0:ph idx="2" type="sldImg"/>
          </ns0:nvPr>
        </ns0:nvSpPr>
        <ns0:spPr>
          <ns1:xfrm>
            <ns1:off x="685800" y="1143000"/>
            <ns1:ext cx="5486400" cy="3086100"/>
          </ns1:xfrm>
          <ns1:custGeom>
            <ns1:rect b="b" l="l" r="r" t="t"/>
            <ns1:pathLst>
              <ns1:path extrusionOk="0" h="120000" w="120000">
                <ns1:moveTo>
                  <ns1:pt x="0" y="0"/>
                </ns1:moveTo>
                <ns1:lnTo>
                  <ns1:pt x="120000" y="0"/>
                </ns1:lnTo>
                <ns1:lnTo>
                  <ns1:pt x="120000" y="120000"/>
                </ns1:lnTo>
                <ns1:lnTo>
                  <ns1:pt x="0" y="120000"/>
                </ns1:lnTo>
                <ns1:close/>
              </ns1:path>
            </ns1:pathLst>
          </ns1:custGeom>
          <ns1:noFill/>
          <ns1:ln cap="flat" cmpd="sng" w="12700">
            <ns1:solidFill>
              <ns1:srgbClr val="000000"/>
            </ns1:solidFill>
            <ns1:prstDash val="solid"/>
            <ns1:round/>
            <ns1:headEnd len="sm" w="sm" type="none"/>
            <ns1:tailEnd len="sm" w="sm" type="none"/>
          </ns1:ln>
        </ns0:spPr>
      </ns0:sp>
      <ns0:sp>
        <ns0:nvSpPr>
          <ns0:cNvPr id="64" name="Google Shape;64;hack_04:notes"/>
          <ns0:cNvSpPr txBox="1"/>
          <ns0:nvPr>
            <ns0:ph idx="1" type="body"/>
          </ns0:nvPr>
        </ns0:nvSpPr>
        <ns0:spPr>
          <ns1:xfrm>
            <ns1:off x="685800" y="4400550"/>
            <ns1:ext cx="5486400" cy="3600600"/>
          </ns1:xfrm>
          <ns1:prstGeom prst="rect">
            <ns1:avLst/>
          </ns1:prstGeom>
          <ns1:noFill/>
          <ns1:ln>
            <ns1:noFill/>
          </ns1:ln>
        </ns0:spPr>
        <ns0:txBody>
          <ns1:bodyPr anchorCtr="0" anchor="t" bIns="45700" lIns="91425" spcFirstLastPara="1" rIns="91425" wrap="square" tIns="45700">
            <ns1:noAutofit/>
          </ns1:bodyPr>
          <ns1:lstStyle/>
          <ns1:p>
            <ns1:pPr indent="0" lvl="0" marL="0" rtl="0" algn="l">
              <ns1:spcBef>
                <ns1:spcPts val="0"/>
              </ns1:spcBef>
              <ns1:spcAft>
                <ns1:spcPts val="0"/>
              </ns1:spcAft>
              <ns1:buNone/>
            </ns1:pPr>
            <ns1:r>
              <ns1:rPr lang="en-US"/>
              <ns1:t>20:23–20:25. A different team investigates the frozen artifact. Different agent names or model choices alone do not establish independent verification. Give every receipt an explicit expected result, observed result and source identity. A PASS has a scope; it is not proof of the absence of all defects. Source: HUSTEF Completion Theater Talk, slide 12, adapted.</ns1:t>
            </ns1:r>
            <ns1:endParaRPr/>
          </ns1:p>
        </ns0:txBody>
      </ns0:sp>
      <ns0:sp>
        <ns0:nvSpPr>
          <ns0:cNvPr id="65" name="Google Shape;65;hack_04:notes"/>
          <ns0:cNvSpPr txBox="1"/>
          <ns0:nvPr>
            <ns0:ph idx="12" type="sldNum"/>
          </ns0:nvPr>
        </ns0:nvSpPr>
        <ns0:spPr>
          <ns1:xfrm>
            <ns1:off x="3884613" y="8685213"/>
            <ns1:ext cx="2971800" cy="458700"/>
          </ns1:xfrm>
          <ns1:prstGeom prst="rect">
            <ns1:avLst/>
          </ns1:prstGeom>
          <ns1:noFill/>
          <ns1:ln>
            <ns1:noFill/>
          </ns1:ln>
        </ns0:spPr>
        <ns0:txBody>
          <ns1:bodyPr anchorCtr="0" anchor="b" bIns="45700" lIns="91425" spcFirstLastPara="1" rIns="91425" wrap="square" tIns="45700">
            <ns1:noAutofit/>
          </ns1:bodyPr>
          <ns1:lstStyle/>
          <ns1:p>
            <ns1:pPr indent="0" lvl="0" marL="0" rtl="0" algn="r">
              <ns1:spcBef>
                <ns1:spcPts val="0"/>
              </ns1:spcBef>
              <ns1:spcAft>
                <ns1:spcPts val="0"/>
              </ns1:spcAft>
              <ns1:buNone/>
            </ns1:pPr>
            <ns1:fld id="{00000000-1234-1234-1234-123412341234}" type="slidenum">
              <ns1:rPr lang="en-US"/>
              <ns1:t>‹#›</ns1:t>
            </ns1:fld>
            <ns1:endParaRPr/>
          </ns1:p>
        </ns0:txBody>
      </ns0:sp>
    </ns0:spTree>
  </ns0:cSld>
  <ns0:clrMapOvr>
    <ns1:masterClrMapping/>
  </ns0:clrMapOvr>
</ns0:notes>
</file>

<file path=ppt/notesSlides/notesSlide5.xml><?xml version="1.0" encoding="utf-8"?>
<ns0:notes xmlns:ns0="http://schemas.openxmlformats.org/presentationml/2006/main" xmlns:ns1="http://schemas.openxmlformats.org/drawingml/2006/main" showMasterPhAnim="0" showMasterSp="0">
  <ns0:cSld>
    <ns0:spTree>
      <ns0:nvGrpSpPr>
        <ns0:cNvPr id="91" name="Shape 91"/>
        <ns0:cNvGrpSpPr/>
        <ns0:nvPr/>
      </ns0:nvGrpSpPr>
      <ns0:grpSpPr>
        <ns1:xfrm>
          <ns1:off x="0" y="0"/>
          <ns1:ext cx="0" cy="0"/>
          <ns1:chOff x="0" y="0"/>
          <ns1:chExt cx="0" cy="0"/>
        </ns1:xfrm>
      </ns0:grpSpPr>
      <ns0:sp>
        <ns0:nvSpPr>
          <ns0:cNvPr id="92" name="Google Shape;92;hack_05:notes"/>
          <ns0:cNvSpPr/>
          <ns0:nvPr>
            <ns0:ph idx="2" type="sldImg"/>
          </ns0:nvPr>
        </ns0:nvSpPr>
        <ns0:spPr>
          <ns1:xfrm>
            <ns1:off x="685800" y="1143000"/>
            <ns1:ext cx="5486400" cy="3086100"/>
          </ns1:xfrm>
          <ns1:custGeom>
            <ns1:rect b="b" l="l" r="r" t="t"/>
            <ns1:pathLst>
              <ns1:path extrusionOk="0" h="120000" w="120000">
                <ns1:moveTo>
                  <ns1:pt x="0" y="0"/>
                </ns1:moveTo>
                <ns1:lnTo>
                  <ns1:pt x="120000" y="0"/>
                </ns1:lnTo>
                <ns1:lnTo>
                  <ns1:pt x="120000" y="120000"/>
                </ns1:lnTo>
                <ns1:lnTo>
                  <ns1:pt x="0" y="120000"/>
                </ns1:lnTo>
                <ns1:close/>
              </ns1:path>
            </ns1:pathLst>
          </ns1:custGeom>
          <ns1:noFill/>
          <ns1:ln cap="flat" cmpd="sng" w="12700">
            <ns1:solidFill>
              <ns1:srgbClr val="000000"/>
            </ns1:solidFill>
            <ns1:prstDash val="solid"/>
            <ns1:round/>
            <ns1:headEnd len="sm" w="sm" type="none"/>
            <ns1:tailEnd len="sm" w="sm" type="none"/>
          </ns1:ln>
        </ns0:spPr>
      </ns0:sp>
      <ns0:sp>
        <ns0:nvSpPr>
          <ns0:cNvPr id="93" name="Google Shape;93;hack_05:notes"/>
          <ns0:cNvSpPr txBox="1"/>
          <ns0:nvPr>
            <ns0:ph idx="1" type="body"/>
          </ns0:nvPr>
        </ns0:nvSpPr>
        <ns0:spPr>
          <ns1:xfrm>
            <ns1:off x="685800" y="4400550"/>
            <ns1:ext cx="5486400" cy="3600600"/>
          </ns1:xfrm>
          <ns1:prstGeom prst="rect">
            <ns1:avLst/>
          </ns1:prstGeom>
          <ns1:noFill/>
          <ns1:ln>
            <ns1:noFill/>
          </ns1:ln>
        </ns0:spPr>
        <ns0:txBody>
          <ns1:bodyPr anchorCtr="0" anchor="t" bIns="45700" lIns="91425" spcFirstLastPara="1" rIns="91425" wrap="square" tIns="45700">
            <ns1:noAutofit/>
          </ns1:bodyPr>
          <ns1:lstStyle/>
          <ns1:p>
            <ns1:pPr indent="0" lvl="0" marL="0" rtl="0" algn="l">
              <ns1:spcBef>
                <ns1:spcPts val="0"/>
              </ns1:spcBef>
              <ns1:spcAft>
                <ns1:spcPts val="0"/>
              </ns1:spcAft>
              <ns1:buNone/>
            </ns1:pPr>
            <ns1:r>
              <ns1:rPr lang="en-US"/>
              <ns1:t>20:25–20:28. Read the transitions clearly. End at 23:15. The 60-minute build is fixed. The full run of show is in 05-Facilitator-Notes. Teams stop adding features at 21:40, can repair during self-verification until 21:55, then freeze. Raw evidence is packaged outside the source archive. The advertised session is 20:15–23:15 in E2+E3. Source: https://agiletestingdays.com/2026/session/completion-theater-hackathon-build-it-prove-it-smash-it/ . Detailed timing is the prepared three-hour adaptation.</ns1:t>
            </ns1:r>
            <ns1:endParaRPr/>
          </ns1:p>
        </ns0:txBody>
      </ns0:sp>
      <ns0:sp>
        <ns0:nvSpPr>
          <ns0:cNvPr id="94" name="Google Shape;94;hack_05:notes"/>
          <ns0:cNvSpPr txBox="1"/>
          <ns0:nvPr>
            <ns0:ph idx="12" type="sldNum"/>
          </ns0:nvPr>
        </ns0:nvSpPr>
        <ns0:spPr>
          <ns1:xfrm>
            <ns1:off x="3884613" y="8685213"/>
            <ns1:ext cx="2971800" cy="458700"/>
          </ns1:xfrm>
          <ns1:prstGeom prst="rect">
            <ns1:avLst/>
          </ns1:prstGeom>
          <ns1:noFill/>
          <ns1:ln>
            <ns1:noFill/>
          </ns1:ln>
        </ns0:spPr>
        <ns0:txBody>
          <ns1:bodyPr anchorCtr="0" anchor="b" bIns="45700" lIns="91425" spcFirstLastPara="1" rIns="91425" wrap="square" tIns="45700">
            <ns1:noAutofit/>
          </ns1:bodyPr>
          <ns1:lstStyle/>
          <ns1:p>
            <ns1:pPr indent="0" lvl="0" marL="0" rtl="0" algn="r">
              <ns1:spcBef>
                <ns1:spcPts val="0"/>
              </ns1:spcBef>
              <ns1:spcAft>
                <ns1:spcPts val="0"/>
              </ns1:spcAft>
              <ns1:buNone/>
            </ns1:pPr>
            <ns1:fld id="{00000000-1234-1234-1234-123412341234}" type="slidenum">
              <ns1:rPr lang="en-US"/>
              <ns1:t>‹#›</ns1:t>
            </ns1:fld>
            <ns1:endParaRPr/>
          </ns1:p>
        </ns0:txBody>
      </ns0:sp>
    </ns0:spTree>
  </ns0:cSld>
  <ns0:clrMapOvr>
    <ns1:masterClrMapping/>
  </ns0:clrMapOvr>
</ns0:notes>
</file>

<file path=ppt/notesSlides/notesSlide6.xml><?xml version="1.0" encoding="utf-8"?>
<ns0:notes xmlns:ns0="http://schemas.openxmlformats.org/presentationml/2006/main" xmlns:ns1="http://schemas.openxmlformats.org/drawingml/2006/main" showMasterPhAnim="0" showMasterSp="0">
  <ns0:cSld>
    <ns0:spTree>
      <ns0:nvGrpSpPr>
        <ns0:cNvPr id="120" name="Shape 120"/>
        <ns0:cNvGrpSpPr/>
        <ns0:nvPr/>
      </ns0:nvGrpSpPr>
      <ns0:grpSpPr>
        <ns1:xfrm>
          <ns1:off x="0" y="0"/>
          <ns1:ext cx="0" cy="0"/>
          <ns1:chOff x="0" y="0"/>
          <ns1:chExt cx="0" cy="0"/>
        </ns1:xfrm>
      </ns0:grpSpPr>
      <ns0:sp>
        <ns0:nvSpPr>
          <ns0:cNvPr id="121" name="Google Shape;121;hack_06:notes"/>
          <ns0:cNvSpPr/>
          <ns0:nvPr>
            <ns0:ph idx="2" type="sldImg"/>
          </ns0:nvPr>
        </ns0:nvSpPr>
        <ns0:spPr>
          <ns1:xfrm>
            <ns1:off x="685800" y="1143000"/>
            <ns1:ext cx="5486400" cy="3086100"/>
          </ns1:xfrm>
          <ns1:custGeom>
            <ns1:rect b="b" l="l" r="r" t="t"/>
            <ns1:pathLst>
              <ns1:path extrusionOk="0" h="120000" w="120000">
                <ns1:moveTo>
                  <ns1:pt x="0" y="0"/>
                </ns1:moveTo>
                <ns1:lnTo>
                  <ns1:pt x="120000" y="0"/>
                </ns1:lnTo>
                <ns1:lnTo>
                  <ns1:pt x="120000" y="120000"/>
                </ns1:lnTo>
                <ns1:lnTo>
                  <ns1:pt x="0" y="120000"/>
                </ns1:lnTo>
                <ns1:close/>
              </ns1:path>
            </ns1:pathLst>
          </ns1:custGeom>
          <ns1:noFill/>
          <ns1:ln cap="flat" cmpd="sng" w="12700">
            <ns1:solidFill>
              <ns1:srgbClr val="000000"/>
            </ns1:solidFill>
            <ns1:prstDash val="solid"/>
            <ns1:round/>
            <ns1:headEnd len="sm" w="sm" type="none"/>
            <ns1:tailEnd len="sm" w="sm" type="none"/>
          </ns1:ln>
        </ns0:spPr>
      </ns0:sp>
      <ns0:sp>
        <ns0:nvSpPr>
          <ns0:cNvPr id="122" name="Google Shape;122;hack_06:notes"/>
          <ns0:cNvSpPr txBox="1"/>
          <ns0:nvPr>
            <ns0:ph idx="1" type="body"/>
          </ns0:nvPr>
        </ns0:nvSpPr>
        <ns0:spPr>
          <ns1:xfrm>
            <ns1:off x="685800" y="4400550"/>
            <ns1:ext cx="5486400" cy="3600600"/>
          </ns1:xfrm>
          <ns1:prstGeom prst="rect">
            <ns1:avLst/>
          </ns1:prstGeom>
          <ns1:noFill/>
          <ns1:ln>
            <ns1:noFill/>
          </ns1:ln>
        </ns0:spPr>
        <ns0:txBody>
          <ns1:bodyPr anchorCtr="0" anchor="t" bIns="45700" lIns="91425" spcFirstLastPara="1" rIns="91425" wrap="square" tIns="45700">
            <ns1:noAutofit/>
          </ns1:bodyPr>
          <ns1:lstStyle/>
          <ns1:p>
            <ns1:pPr indent="0" lvl="0" marL="0" rtl="0" algn="l">
              <ns1:spcBef>
                <ns1:spcPts val="0"/>
              </ns1:spcBef>
              <ns1:spcAft>
                <ns1:spcPts val="0"/>
              </ns1:spcAft>
              <ns1:buNone/>
            </ns1:pPr>
            <ns1:r>
              <ns1:rPr lang="en-US"/>
              <ns1:t>20:30–20:35. Lalit hands out the full PRD and templates. This slide is an overview; all teams receive the eight detailed acceptance criteria before building. Use fictional aliases. Any stack and coding agent is welcome. Runtime dependencies must work locally. AI access is a build tool, not an app dependency. Remove optional features before compromising capacity, replay or restart. The exact API paths are in the PRD so another team can investigate quickly. This is a proposed starter challenge created for ATD, not an existing production product.</ns1:t>
            </ns1:r>
            <ns1:endParaRPr/>
          </ns1:p>
        </ns0:txBody>
      </ns0:sp>
      <ns0:sp>
        <ns0:nvSpPr>
          <ns0:cNvPr id="123" name="Google Shape;123;hack_06:notes"/>
          <ns0:cNvSpPr txBox="1"/>
          <ns0:nvPr>
            <ns0:ph idx="12" type="sldNum"/>
          </ns0:nvPr>
        </ns0:nvSpPr>
        <ns0:spPr>
          <ns1:xfrm>
            <ns1:off x="3884613" y="8685213"/>
            <ns1:ext cx="2971800" cy="458700"/>
          </ns1:xfrm>
          <ns1:prstGeom prst="rect">
            <ns1:avLst/>
          </ns1:prstGeom>
          <ns1:noFill/>
          <ns1:ln>
            <ns1:noFill/>
          </ns1:ln>
        </ns0:spPr>
        <ns0:txBody>
          <ns1:bodyPr anchorCtr="0" anchor="b" bIns="45700" lIns="91425" spcFirstLastPara="1" rIns="91425" wrap="square" tIns="45700">
            <ns1:noAutofit/>
          </ns1:bodyPr>
          <ns1:lstStyle/>
          <ns1:p>
            <ns1:pPr indent="0" lvl="0" marL="0" rtl="0" algn="r">
              <ns1:spcBef>
                <ns1:spcPts val="0"/>
              </ns1:spcBef>
              <ns1:spcAft>
                <ns1:spcPts val="0"/>
              </ns1:spcAft>
              <ns1:buNone/>
            </ns1:pPr>
            <ns1:fld id="{00000000-1234-1234-1234-123412341234}" type="slidenum">
              <ns1:rPr lang="en-US"/>
              <ns1:t>‹#›</ns1:t>
            </ns1:fld>
            <ns1:endParaRPr/>
          </ns1:p>
        </ns0:txBody>
      </ns0:sp>
    </ns0:spTree>
  </ns0:cSld>
  <ns0:clrMapOvr>
    <ns1:masterClrMapping/>
  </ns0:clrMapOvr>
</ns0:notes>
</file>

<file path=ppt/notesSlides/notesSlide7.xml><?xml version="1.0" encoding="utf-8"?>
<ns0:notes xmlns:ns0="http://schemas.openxmlformats.org/presentationml/2006/main" xmlns:ns1="http://schemas.openxmlformats.org/drawingml/2006/main" showMasterPhAnim="0" showMasterSp="0">
  <ns0:cSld>
    <ns0:spTree>
      <ns0:nvGrpSpPr>
        <ns0:cNvPr id="149" name="Shape 149"/>
        <ns0:cNvGrpSpPr/>
        <ns0:nvPr/>
      </ns0:nvGrpSpPr>
      <ns0:grpSpPr>
        <ns1:xfrm>
          <ns1:off x="0" y="0"/>
          <ns1:ext cx="0" cy="0"/>
          <ns1:chOff x="0" y="0"/>
          <ns1:chExt cx="0" cy="0"/>
        </ns1:xfrm>
      </ns0:grpSpPr>
      <ns0:sp>
        <ns0:nvSpPr>
          <ns0:cNvPr id="150" name="Google Shape;150;hack_07:notes"/>
          <ns0:cNvSpPr/>
          <ns0:nvPr>
            <ns0:ph idx="2" type="sldImg"/>
          </ns0:nvPr>
        </ns0:nvSpPr>
        <ns0:spPr>
          <ns1:xfrm>
            <ns1:off x="685800" y="1143000"/>
            <ns1:ext cx="5486400" cy="3086100"/>
          </ns1:xfrm>
          <ns1:custGeom>
            <ns1:rect b="b" l="l" r="r" t="t"/>
            <ns1:pathLst>
              <ns1:path extrusionOk="0" h="120000" w="120000">
                <ns1:moveTo>
                  <ns1:pt x="0" y="0"/>
                </ns1:moveTo>
                <ns1:lnTo>
                  <ns1:pt x="120000" y="0"/>
                </ns1:lnTo>
                <ns1:lnTo>
                  <ns1:pt x="120000" y="120000"/>
                </ns1:lnTo>
                <ns1:lnTo>
                  <ns1:pt x="0" y="120000"/>
                </ns1:lnTo>
                <ns1:close/>
              </ns1:path>
            </ns1:pathLst>
          </ns1:custGeom>
          <ns1:noFill/>
          <ns1:ln cap="flat" cmpd="sng" w="12700">
            <ns1:solidFill>
              <ns1:srgbClr val="000000"/>
            </ns1:solidFill>
            <ns1:prstDash val="solid"/>
            <ns1:round/>
            <ns1:headEnd len="sm" w="sm" type="none"/>
            <ns1:tailEnd len="sm" w="sm" type="none"/>
          </ns1:ln>
        </ns0:spPr>
      </ns0:sp>
      <ns0:sp>
        <ns0:nvSpPr>
          <ns0:cNvPr id="151" name="Google Shape;151;hack_07:notes"/>
          <ns0:cNvSpPr txBox="1"/>
          <ns0:nvPr>
            <ns0:ph idx="1" type="body"/>
          </ns0:nvPr>
        </ns0:nvSpPr>
        <ns0:spPr>
          <ns1:xfrm>
            <ns1:off x="685800" y="4400550"/>
            <ns1:ext cx="5486400" cy="3600600"/>
          </ns1:xfrm>
          <ns1:prstGeom prst="rect">
            <ns1:avLst/>
          </ns1:prstGeom>
          <ns1:noFill/>
          <ns1:ln>
            <ns1:noFill/>
          </ns1:ln>
        </ns0:spPr>
        <ns0:txBody>
          <ns1:bodyPr anchorCtr="0" anchor="t" bIns="45700" lIns="91425" spcFirstLastPara="1" rIns="91425" wrap="square" tIns="45700">
            <ns1:noAutofit/>
          </ns1:bodyPr>
          <ns1:lstStyle/>
          <ns1:p>
            <ns1:pPr indent="0" lvl="0" marL="0" rtl="0" algn="l">
              <ns1:spcBef>
                <ns1:spcPts val="0"/>
              </ns1:spcBef>
              <ns1:spcAft>
                <ns1:spcPts val="0"/>
              </ns1:spcAft>
              <ns1:buNone/>
            </ns1:pPr>
            <ns1:r>
              <ns1:rPr lang="en-US"/>
              <ns1:t>20:35–20:38. Top-level weights match the published ATD session. Detailed anchors are new prepared rules, provided to all teams before build. PASS/FAIL/NOT RUN are observed outcomes. Functional points require EXECUTED PASS. No unsupported coverage claim can substitute. Audit credit can come from a reproducible mismatch or a rigorous bounded clean result, so an auditor is not forced to invent defects. Rewards remain OPEN and separate from scoring. Source: published ATD session; see 04-Scoring-Sheets for the complete rubric.</ns1:t>
            </ns1:r>
            <ns1:endParaRPr/>
          </ns1:p>
        </ns0:txBody>
      </ns0:sp>
      <ns0:sp>
        <ns0:nvSpPr>
          <ns0:cNvPr id="152" name="Google Shape;152;hack_07:notes"/>
          <ns0:cNvSpPr txBox="1"/>
          <ns0:nvPr>
            <ns0:ph idx="12" type="sldNum"/>
          </ns0:nvPr>
        </ns0:nvSpPr>
        <ns0:spPr>
          <ns1:xfrm>
            <ns1:off x="3884613" y="8685213"/>
            <ns1:ext cx="2971800" cy="458700"/>
          </ns1:xfrm>
          <ns1:prstGeom prst="rect">
            <ns1:avLst/>
          </ns1:prstGeom>
          <ns1:noFill/>
          <ns1:ln>
            <ns1:noFill/>
          </ns1:ln>
        </ns0:spPr>
        <ns0:txBody>
          <ns1:bodyPr anchorCtr="0" anchor="b" bIns="45700" lIns="91425" spcFirstLastPara="1" rIns="91425" wrap="square" tIns="45700">
            <ns1:noAutofit/>
          </ns1:bodyPr>
          <ns1:lstStyle/>
          <ns1:p>
            <ns1:pPr indent="0" lvl="0" marL="0" rtl="0" algn="r">
              <ns1:spcBef>
                <ns1:spcPts val="0"/>
              </ns1:spcBef>
              <ns1:spcAft>
                <ns1:spcPts val="0"/>
              </ns1:spcAft>
              <ns1:buNone/>
            </ns1:pPr>
            <ns1:fld id="{00000000-1234-1234-1234-123412341234}" type="slidenum">
              <ns1:rPr lang="en-US"/>
              <ns1:t>‹#›</ns1:t>
            </ns1:fld>
            <ns1:endParaRPr/>
          </ns1:p>
        </ns0:txBody>
      </ns0:sp>
    </ns0:spTree>
  </ns0:cSld>
  <ns0:clrMapOvr>
    <ns1:masterClrMapping/>
  </ns0:clrMapOvr>
</ns0:notes>
</file>

<file path=ppt/notesSlides/notesSlide8.xml><?xml version="1.0" encoding="utf-8"?>
<ns0:notes xmlns:ns0="http://schemas.openxmlformats.org/presentationml/2006/main" xmlns:ns1="http://schemas.openxmlformats.org/drawingml/2006/main" showMasterPhAnim="0" showMasterSp="0">
  <ns0:cSld>
    <ns0:spTree>
      <ns0:nvGrpSpPr>
        <ns0:cNvPr id="178" name="Shape 178"/>
        <ns0:cNvGrpSpPr/>
        <ns0:nvPr/>
      </ns0:nvGrpSpPr>
      <ns0:grpSpPr>
        <ns1:xfrm>
          <ns1:off x="0" y="0"/>
          <ns1:ext cx="0" cy="0"/>
          <ns1:chOff x="0" y="0"/>
          <ns1:chExt cx="0" cy="0"/>
        </ns1:xfrm>
      </ns0:grpSpPr>
      <ns0:sp>
        <ns0:nvSpPr>
          <ns0:cNvPr id="179" name="Google Shape;179;hack_08:notes"/>
          <ns0:cNvSpPr/>
          <ns0:nvPr>
            <ns0:ph idx="2" type="sldImg"/>
          </ns0:nvPr>
        </ns0:nvSpPr>
        <ns0:spPr>
          <ns1:xfrm>
            <ns1:off x="685800" y="1143000"/>
            <ns1:ext cx="5486400" cy="3086100"/>
          </ns1:xfrm>
          <ns1:custGeom>
            <ns1:rect b="b" l="l" r="r" t="t"/>
            <ns1:pathLst>
              <ns1:path extrusionOk="0" h="120000" w="120000">
                <ns1:moveTo>
                  <ns1:pt x="0" y="0"/>
                </ns1:moveTo>
                <ns1:lnTo>
                  <ns1:pt x="120000" y="0"/>
                </ns1:lnTo>
                <ns1:lnTo>
                  <ns1:pt x="120000" y="120000"/>
                </ns1:lnTo>
                <ns1:lnTo>
                  <ns1:pt x="0" y="120000"/>
                </ns1:lnTo>
                <ns1:close/>
              </ns1:path>
            </ns1:pathLst>
          </ns1:custGeom>
          <ns1:noFill/>
          <ns1:ln cap="flat" cmpd="sng" w="12700">
            <ns1:solidFill>
              <ns1:srgbClr val="000000"/>
            </ns1:solidFill>
            <ns1:prstDash val="solid"/>
            <ns1:round/>
            <ns1:headEnd len="sm" w="sm" type="none"/>
            <ns1:tailEnd len="sm" w="sm" type="none"/>
          </ns1:ln>
        </ns0:spPr>
      </ns0:sp>
      <ns0:sp>
        <ns0:nvSpPr>
          <ns0:cNvPr id="180" name="Google Shape;180;hack_08:notes"/>
          <ns0:cNvSpPr txBox="1"/>
          <ns0:nvPr>
            <ns0:ph idx="1" type="body"/>
          </ns0:nvPr>
        </ns0:nvSpPr>
        <ns0:spPr>
          <ns1:xfrm>
            <ns1:off x="685800" y="4400550"/>
            <ns1:ext cx="5486400" cy="3600600"/>
          </ns1:xfrm>
          <ns1:prstGeom prst="rect">
            <ns1:avLst/>
          </ns1:prstGeom>
          <ns1:noFill/>
          <ns1:ln>
            <ns1:noFill/>
          </ns1:ln>
        </ns0:spPr>
        <ns0:txBody>
          <ns1:bodyPr anchorCtr="0" anchor="t" bIns="45700" lIns="91425" spcFirstLastPara="1" rIns="91425" wrap="square" tIns="45700">
            <ns1:noAutofit/>
          </ns1:bodyPr>
          <ns1:lstStyle/>
          <ns1:p>
            <ns1:pPr indent="0" lvl="0" marL="0" rtl="0" algn="l">
              <ns1:spcBef>
                <ns1:spcPts val="0"/>
              </ns1:spcBef>
              <ns1:spcAft>
                <ns1:spcPts val="0"/>
              </ns1:spcAft>
              <ns1:buNone/>
            </ns1:pPr>
            <ns1:r>
              <ns1:rPr lang="en-US"/>
              <ns1:t>20:38–20:40. Set roles and scope, then leave this screen visible for the build. Announce 20:50 skeleton, 21:10 record-readback and 21:25 risk checkpoints. Call five minutes remaining at 21:35. Restrict work to fresh team fixture directories. No live conference registration, payment integration, credential sharing or production systems. Dragan supports evidence questions, Lalit supports scope and team flow; agree those roles together. At 21:40 switch to verification.</ns1:t>
            </ns1:r>
            <ns1:endParaRPr/>
          </ns1:p>
        </ns0:txBody>
      </ns0:sp>
      <ns0:sp>
        <ns0:nvSpPr>
          <ns0:cNvPr id="181" name="Google Shape;181;hack_08:notes"/>
          <ns0:cNvSpPr txBox="1"/>
          <ns0:nvPr>
            <ns0:ph idx="12" type="sldNum"/>
          </ns0:nvPr>
        </ns0:nvSpPr>
        <ns0:spPr>
          <ns1:xfrm>
            <ns1:off x="3884613" y="8685213"/>
            <ns1:ext cx="2971800" cy="458700"/>
          </ns1:xfrm>
          <ns1:prstGeom prst="rect">
            <ns1:avLst/>
          </ns1:prstGeom>
          <ns1:noFill/>
          <ns1:ln>
            <ns1:noFill/>
          </ns1:ln>
        </ns0:spPr>
        <ns0:txBody>
          <ns1:bodyPr anchorCtr="0" anchor="b" bIns="45700" lIns="91425" spcFirstLastPara="1" rIns="91425" wrap="square" tIns="45700">
            <ns1:noAutofit/>
          </ns1:bodyPr>
          <ns1:lstStyle/>
          <ns1:p>
            <ns1:pPr indent="0" lvl="0" marL="0" rtl="0" algn="r">
              <ns1:spcBef>
                <ns1:spcPts val="0"/>
              </ns1:spcBef>
              <ns1:spcAft>
                <ns1:spcPts val="0"/>
              </ns1:spcAft>
              <ns1:buNone/>
            </ns1:pPr>
            <ns1:fld id="{00000000-1234-1234-1234-123412341234}" type="slidenum">
              <ns1:rPr lang="en-US"/>
              <ns1:t>‹#›</ns1:t>
            </ns1:fld>
            <ns1:endParaRPr/>
          </ns1:p>
        </ns0:txBody>
      </ns0:sp>
    </ns0:spTree>
  </ns0:cSld>
  <ns0:clrMapOvr>
    <ns1:masterClrMapping/>
  </ns0:clrMapOvr>
</ns0:notes>
</file>

<file path=ppt/notesSlides/notesSlide9.xml><?xml version="1.0" encoding="utf-8"?>
<ns0:notes xmlns:ns0="http://schemas.openxmlformats.org/presentationml/2006/main" xmlns:ns1="http://schemas.openxmlformats.org/drawingml/2006/main" showMasterPhAnim="0" showMasterSp="0">
  <ns0:cSld>
    <ns0:spTree>
      <ns0:nvGrpSpPr>
        <ns0:cNvPr id="207" name="Shape 207"/>
        <ns0:cNvGrpSpPr/>
        <ns0:nvPr/>
      </ns0:nvGrpSpPr>
      <ns0:grpSpPr>
        <ns1:xfrm>
          <ns1:off x="0" y="0"/>
          <ns1:ext cx="0" cy="0"/>
          <ns1:chOff x="0" y="0"/>
          <ns1:chExt cx="0" cy="0"/>
        </ns1:xfrm>
      </ns0:grpSpPr>
      <ns0:sp>
        <ns0:nvSpPr>
          <ns0:cNvPr id="208" name="Google Shape;208;hack_09:notes"/>
          <ns0:cNvSpPr/>
          <ns0:nvPr>
            <ns0:ph idx="2" type="sldImg"/>
          </ns0:nvPr>
        </ns0:nvSpPr>
        <ns0:spPr>
          <ns1:xfrm>
            <ns1:off x="685800" y="1143000"/>
            <ns1:ext cx="5486400" cy="3086100"/>
          </ns1:xfrm>
          <ns1:custGeom>
            <ns1:rect b="b" l="l" r="r" t="t"/>
            <ns1:pathLst>
              <ns1:path extrusionOk="0" h="120000" w="120000">
                <ns1:moveTo>
                  <ns1:pt x="0" y="0"/>
                </ns1:moveTo>
                <ns1:lnTo>
                  <ns1:pt x="120000" y="0"/>
                </ns1:lnTo>
                <ns1:lnTo>
                  <ns1:pt x="120000" y="120000"/>
                </ns1:lnTo>
                <ns1:lnTo>
                  <ns1:pt x="0" y="120000"/>
                </ns1:lnTo>
                <ns1:close/>
              </ns1:path>
            </ns1:pathLst>
          </ns1:custGeom>
          <ns1:noFill/>
          <ns1:ln cap="flat" cmpd="sng" w="12700">
            <ns1:solidFill>
              <ns1:srgbClr val="000000"/>
            </ns1:solidFill>
            <ns1:prstDash val="solid"/>
            <ns1:round/>
            <ns1:headEnd len="sm" w="sm" type="none"/>
            <ns1:tailEnd len="sm" w="sm" type="none"/>
          </ns1:ln>
        </ns0:spPr>
      </ns0:sp>
      <ns0:sp>
        <ns0:nvSpPr>
          <ns0:cNvPr id="209" name="Google Shape;209;hack_09:notes"/>
          <ns0:cNvSpPr txBox="1"/>
          <ns0:nvPr>
            <ns0:ph idx="1" type="body"/>
          </ns0:nvPr>
        </ns0:nvSpPr>
        <ns0:spPr>
          <ns1:xfrm>
            <ns1:off x="685800" y="4400550"/>
            <ns1:ext cx="5486400" cy="3600600"/>
          </ns1:xfrm>
          <ns1:prstGeom prst="rect">
            <ns1:avLst/>
          </ns1:prstGeom>
          <ns1:noFill/>
          <ns1:ln>
            <ns1:noFill/>
          </ns1:ln>
        </ns0:spPr>
        <ns0:txBody>
          <ns1:bodyPr anchorCtr="0" anchor="t" bIns="45700" lIns="91425" spcFirstLastPara="1" rIns="91425" wrap="square" tIns="45700">
            <ns1:noAutofit/>
          </ns1:bodyPr>
          <ns1:lstStyle/>
          <ns1:p>
            <ns1:pPr indent="0" lvl="0" marL="0" rtl="0" algn="l">
              <ns1:spcBef>
                <ns1:spcPts val="0"/>
              </ns1:spcBef>
              <ns1:spcAft>
                <ns1:spcPts val="0"/>
              </ns1:spcAft>
              <ns1:buNone/>
            </ns1:pPr>
            <ns1:r>
              <ns1:rPr lang="en-US"/>
              <ns1:t>At 21:40 stop adding features. Repair only until 21:55, then freeze source and tests. Use the full builder checklist. NOT RUN stays visible. No repair after freeze can replace the judged artifact. A negative control belongs in a disposable copy, not the frozen source. Match every receipt to the source version; rerun affected checks after a pre-freeze change. Keep evidence outside the source archive. This round prepares the 30-point evidence category but does not assume the product passed.</ns1:t>
            </ns1:r>
            <ns1:endParaRPr/>
          </ns1:p>
        </ns0:txBody>
      </ns0:sp>
      <ns0:sp>
        <ns0:nvSpPr>
          <ns0:cNvPr id="210" name="Google Shape;210;hack_09:notes"/>
          <ns0:cNvSpPr txBox="1"/>
          <ns0:nvPr>
            <ns0:ph idx="12" type="sldNum"/>
          </ns0:nvPr>
        </ns0:nvSpPr>
        <ns0:spPr>
          <ns1:xfrm>
            <ns1:off x="3884613" y="8685213"/>
            <ns1:ext cx="2971800" cy="458700"/>
          </ns1:xfrm>
          <ns1:prstGeom prst="rect">
            <ns1:avLst/>
          </ns1:prstGeom>
          <ns1:noFill/>
          <ns1:ln>
            <ns1:noFill/>
          </ns1:ln>
        </ns0:spPr>
        <ns0:txBody>
          <ns1:bodyPr anchorCtr="0" anchor="b" bIns="45700" lIns="91425" spcFirstLastPara="1" rIns="91425" wrap="square" tIns="45700">
            <ns1:noAutofit/>
          </ns1:bodyPr>
          <ns1:lstStyle/>
          <ns1:p>
            <ns1:pPr indent="0" lvl="0" marL="0" rtl="0" algn="r">
              <ns1:spcBef>
                <ns1:spcPts val="0"/>
              </ns1:spcBef>
              <ns1:spcAft>
                <ns1:spcPts val="0"/>
              </ns1:spcAft>
              <ns1:buNone/>
            </ns1:pPr>
            <ns1:fld id="{00000000-1234-1234-1234-123412341234}" type="slidenum">
              <ns1:rPr lang="en-US"/>
              <ns1:t>‹#›</ns1:t>
            </ns1:fld>
            <ns1:endParaRPr/>
          </ns1:p>
        </ns0:txBody>
      </ns0:sp>
    </ns0:spTree>
  </ns0:cSld>
  <ns0:clrMapOvr>
    <ns1:masterClrMapping/>
  </ns0:clrMapOvr>
</ns0:notes>
</file>

<file path=ppt/notesSlides/notesSlide10.xml><?xml version="1.0" encoding="utf-8"?>
<ns0:notes xmlns:ns0="http://schemas.openxmlformats.org/presentationml/2006/main" xmlns:ns1="http://schemas.openxmlformats.org/drawingml/2006/main" showMasterPhAnim="0" showMasterSp="0">
  <ns0:cSld>
    <ns0:spTree>
      <ns0:nvGrpSpPr>
        <ns0:cNvPr id="236" name="Shape 236"/>
        <ns0:cNvGrpSpPr/>
        <ns0:nvPr/>
      </ns0:nvGrpSpPr>
      <ns0:grpSpPr>
        <ns1:xfrm>
          <ns1:off x="0" y="0"/>
          <ns1:ext cx="0" cy="0"/>
          <ns1:chOff x="0" y="0"/>
          <ns1:chExt cx="0" cy="0"/>
        </ns1:xfrm>
      </ns0:grpSpPr>
      <ns0:sp>
        <ns0:nvSpPr>
          <ns0:cNvPr id="237" name="Google Shape;237;hack_10:notes"/>
          <ns0:cNvSpPr/>
          <ns0:nvPr>
            <ns0:ph idx="2" type="sldImg"/>
          </ns0:nvPr>
        </ns0:nvSpPr>
        <ns0:spPr>
          <ns1:xfrm>
            <ns1:off x="685800" y="1143000"/>
            <ns1:ext cx="5486400" cy="3086100"/>
          </ns1:xfrm>
          <ns1:custGeom>
            <ns1:rect b="b" l="l" r="r" t="t"/>
            <ns1:pathLst>
              <ns1:path extrusionOk="0" h="120000" w="120000">
                <ns1:moveTo>
                  <ns1:pt x="0" y="0"/>
                </ns1:moveTo>
                <ns1:lnTo>
                  <ns1:pt x="120000" y="0"/>
                </ns1:lnTo>
                <ns1:lnTo>
                  <ns1:pt x="120000" y="120000"/>
                </ns1:lnTo>
                <ns1:lnTo>
                  <ns1:pt x="0" y="120000"/>
                </ns1:lnTo>
                <ns1:close/>
              </ns1:path>
            </ns1:pathLst>
          </ns1:custGeom>
          <ns1:noFill/>
          <ns1:ln cap="flat" cmpd="sng" w="12700">
            <ns1:solidFill>
              <ns1:srgbClr val="000000"/>
            </ns1:solidFill>
            <ns1:prstDash val="solid"/>
            <ns1:round/>
            <ns1:headEnd len="sm" w="sm" type="none"/>
            <ns1:tailEnd len="sm" w="sm" type="none"/>
          </ns1:ln>
        </ns0:spPr>
      </ns0:sp>
      <ns0:sp>
        <ns0:nvSpPr>
          <ns0:cNvPr id="238" name="Google Shape;238;hack_10:notes"/>
          <ns0:cNvSpPr txBox="1"/>
          <ns0:nvPr>
            <ns0:ph idx="1" type="body"/>
          </ns0:nvPr>
        </ns0:nvSpPr>
        <ns0:spPr>
          <ns1:xfrm>
            <ns1:off x="685800" y="4400550"/>
            <ns1:ext cx="5486400" cy="3600600"/>
          </ns1:xfrm>
          <ns1:prstGeom prst="rect">
            <ns1:avLst/>
          </ns1:prstGeom>
          <ns1:noFill/>
          <ns1:ln>
            <ns1:noFill/>
          </ns1:ln>
        </ns0:spPr>
        <ns0:txBody>
          <ns1:bodyPr anchorCtr="0" anchor="t" bIns="45700" lIns="91425" spcFirstLastPara="1" rIns="91425" wrap="square" tIns="45700">
            <ns1:noAutofit/>
          </ns1:bodyPr>
          <ns1:lstStyle/>
          <ns1:p>
            <ns1:pPr indent="0" lvl="0" marL="0" rtl="0" algn="l">
              <ns1:spcBef>
                <ns1:spcPts val="0"/>
              </ns1:spcBef>
              <ns1:spcAft>
                <ns1:spcPts val="0"/>
              </ns1:spcAft>
              <ns1:buNone/>
            </ns1:pPr>
            <ns1:r>
              <ns1:rPr lang="en-US"/>
              <ns1:t>22:00–22:05 handoff and short break. Lalit assigns the directed audit ring. At 22:05 begin this 35-minute split: 5+10+10+5+5. Builders can explain commands; auditors execute. Escalate blocked cold starts after five minutes. Do not alter frozen source or plant bugs. A bounded clean result is valid, but 'no bugs' is not a supported universal conclusion. C1–C4 score the auditor's investigation. Target app scoring follows acceptance results, without a second penalty for being audited.</ns1:t>
            </ns1:r>
            <ns1:endParaRPr/>
          </ns1:p>
        </ns0:txBody>
      </ns0:sp>
      <ns0:sp>
        <ns0:nvSpPr>
          <ns0:cNvPr id="239" name="Google Shape;239;hack_10:notes"/>
          <ns0:cNvSpPr txBox="1"/>
          <ns0:nvPr>
            <ns0:ph idx="12" type="sldNum"/>
          </ns0:nvPr>
        </ns0:nvSpPr>
        <ns0:spPr>
          <ns1:xfrm>
            <ns1:off x="3884613" y="8685213"/>
            <ns1:ext cx="2971800" cy="458700"/>
          </ns1:xfrm>
          <ns1:prstGeom prst="rect">
            <ns1:avLst/>
          </ns1:prstGeom>
          <ns1:noFill/>
          <ns1:ln>
            <ns1:noFill/>
          </ns1:ln>
        </ns0:spPr>
        <ns0:txBody>
          <ns1:bodyPr anchorCtr="0" anchor="b" bIns="45700" lIns="91425" spcFirstLastPara="1" rIns="91425" wrap="square" tIns="45700">
            <ns1:noAutofit/>
          </ns1:bodyPr>
          <ns1:lstStyle/>
          <ns1:p>
            <ns1:pPr indent="0" lvl="0" marL="0" rtl="0" algn="r">
              <ns1:spcBef>
                <ns1:spcPts val="0"/>
              </ns1:spcBef>
              <ns1:spcAft>
                <ns1:spcPts val="0"/>
              </ns1:spcAft>
              <ns1:buNone/>
            </ns1:pPr>
            <ns1:fld id="{00000000-1234-1234-1234-123412341234}" type="slidenum">
              <ns1:rPr lang="en-US"/>
              <ns1:t>‹#›</ns1:t>
            </ns1:fld>
            <ns1:endParaRPr/>
          </ns1:p>
        </ns0:txBody>
      </ns0:sp>
    </ns0:spTree>
  </ns0:cSld>
  <ns0:clrMapOvr>
    <ns1:masterClrMapping/>
  </ns0:clrMapOvr>
</ns0:notes>
</file>

<file path=ppt/notesSlides/notesSlide11.xml><?xml version="1.0" encoding="utf-8"?>
<ns0:notes xmlns:ns0="http://schemas.openxmlformats.org/presentationml/2006/main" xmlns:ns1="http://schemas.openxmlformats.org/drawingml/2006/main" showMasterPhAnim="0" showMasterSp="0">
  <ns0:cSld>
    <ns0:spTree>
      <ns0:nvGrpSpPr>
        <ns0:cNvPr id="265" name="Shape 265"/>
        <ns0:cNvGrpSpPr/>
        <ns0:nvPr/>
      </ns0:nvGrpSpPr>
      <ns0:grpSpPr>
        <ns1:xfrm>
          <ns1:off x="0" y="0"/>
          <ns1:ext cx="0" cy="0"/>
          <ns1:chOff x="0" y="0"/>
          <ns1:chExt cx="0" cy="0"/>
        </ns1:xfrm>
      </ns0:grpSpPr>
      <ns0:sp>
        <ns0:nvSpPr>
          <ns0:cNvPr id="266" name="Google Shape;266;hack_11:notes"/>
          <ns0:cNvSpPr/>
          <ns0:nvPr>
            <ns0:ph idx="2" type="sldImg"/>
          </ns0:nvPr>
        </ns0:nvSpPr>
        <ns0:spPr>
          <ns1:xfrm>
            <ns1:off x="685800" y="1143000"/>
            <ns1:ext cx="5486400" cy="3086100"/>
          </ns1:xfrm>
          <ns1:custGeom>
            <ns1:rect b="b" l="l" r="r" t="t"/>
            <ns1:pathLst>
              <ns1:path extrusionOk="0" h="120000" w="120000">
                <ns1:moveTo>
                  <ns1:pt x="0" y="0"/>
                </ns1:moveTo>
                <ns1:lnTo>
                  <ns1:pt x="120000" y="0"/>
                </ns1:lnTo>
                <ns1:lnTo>
                  <ns1:pt x="120000" y="120000"/>
                </ns1:lnTo>
                <ns1:lnTo>
                  <ns1:pt x="0" y="120000"/>
                </ns1:lnTo>
                <ns1:close/>
              </ns1:path>
            </ns1:pathLst>
          </ns1:custGeom>
          <ns1:noFill/>
          <ns1:ln cap="flat" cmpd="sng" w="12700">
            <ns1:solidFill>
              <ns1:srgbClr val="000000"/>
            </ns1:solidFill>
            <ns1:prstDash val="solid"/>
            <ns1:round/>
            <ns1:headEnd len="sm" w="sm" type="none"/>
            <ns1:tailEnd len="sm" w="sm" type="none"/>
          </ns1:ln>
        </ns0:spPr>
      </ns0:sp>
      <ns0:sp>
        <ns0:nvSpPr>
          <ns0:cNvPr id="267" name="Google Shape;267;hack_11:notes"/>
          <ns0:cNvSpPr txBox="1"/>
          <ns0:nvPr>
            <ns0:ph idx="1" type="body"/>
          </ns0:nvPr>
        </ns0:nvSpPr>
        <ns0:spPr>
          <ns1:xfrm>
            <ns1:off x="685800" y="4400550"/>
            <ns1:ext cx="5486400" cy="3600600"/>
          </ns1:xfrm>
          <ns1:prstGeom prst="rect">
            <ns1:avLst/>
          </ns1:prstGeom>
          <ns1:noFill/>
          <ns1:ln>
            <ns1:noFill/>
          </ns1:ln>
        </ns0:spPr>
        <ns0:txBody>
          <ns1:bodyPr anchorCtr="0" anchor="t" bIns="45700" lIns="91425" spcFirstLastPara="1" rIns="91425" wrap="square" tIns="45700">
            <ns1:noAutofit/>
          </ns1:bodyPr>
          <ns1:lstStyle/>
          <ns1:p>
            <ns1:pPr indent="0" lvl="0" marL="0" rtl="0" algn="l">
              <ns1:spcBef>
                <ns1:spcPts val="0"/>
              </ns1:spcBef>
              <ns1:spcAft>
                <ns1:spcPts val="0"/>
              </ns1:spcAft>
              <ns1:buNone/>
            </ns1:pPr>
            <ns1:r>
              <ns1:rPr lang="en-US"/>
              <ns1:t>22:40. Up to eight teams have two minutes each, leaving four minutes total. The row numbers 45/45/30 are seconds; the fourth row explicitly says four buffer minutes across the whole round. For nine or more teams use 90 seconds each and do not run past 23:00. Facilitators collect scores while circulating, so this demo does not need to reproduce every criterion. Disputed scores require an executed receipt or rerun, not a persuasive summary. New post-freeze code cannot replace the baseline.</ns1:t>
            </ns1:r>
            <ns1:endParaRPr/>
          </ns1:p>
        </ns0:txBody>
      </ns0:sp>
      <ns0:sp>
        <ns0:nvSpPr>
          <ns0:cNvPr id="268" name="Google Shape;268;hack_11:notes"/>
          <ns0:cNvSpPr txBox="1"/>
          <ns0:nvPr>
            <ns0:ph idx="12" type="sldNum"/>
          </ns0:nvPr>
        </ns0:nvSpPr>
        <ns0:spPr>
          <ns1:xfrm>
            <ns1:off x="3884613" y="8685213"/>
            <ns1:ext cx="2971800" cy="458700"/>
          </ns1:xfrm>
          <ns1:prstGeom prst="rect">
            <ns1:avLst/>
          </ns1:prstGeom>
          <ns1:noFill/>
          <ns1:ln>
            <ns1:noFill/>
          </ns1:ln>
        </ns0:spPr>
        <ns0:txBody>
          <ns1:bodyPr anchorCtr="0" anchor="b" bIns="45700" lIns="91425" spcFirstLastPara="1" rIns="91425" wrap="square" tIns="45700">
            <ns1:noAutofit/>
          </ns1:bodyPr>
          <ns1:lstStyle/>
          <ns1:p>
            <ns1:pPr indent="0" lvl="0" marL="0" rtl="0" algn="r">
              <ns1:spcBef>
                <ns1:spcPts val="0"/>
              </ns1:spcBef>
              <ns1:spcAft>
                <ns1:spcPts val="0"/>
              </ns1:spcAft>
              <ns1:buNone/>
            </ns1:pPr>
            <ns1:fld id="{00000000-1234-1234-1234-123412341234}" type="slidenum">
              <ns1:rPr lang="en-US"/>
              <ns1:t>‹#›</ns1:t>
            </ns1:fld>
            <ns1:endParaRPr/>
          </ns1:p>
        </ns0:txBody>
      </ns0:sp>
    </ns0:spTree>
  </ns0:cSld>
  <ns0:clrMapOvr>
    <ns1:masterClrMapping/>
  </ns0:clrMapOvr>
</ns0:notes>
</file>

<file path=ppt/notesSlides/notesSlide12.xml><?xml version="1.0" encoding="utf-8"?>
<ns0:notes xmlns:ns0="http://schemas.openxmlformats.org/presentationml/2006/main" xmlns:ns1="http://schemas.openxmlformats.org/drawingml/2006/main" showMasterPhAnim="0" showMasterSp="0">
  <ns0:cSld>
    <ns0:spTree>
      <ns0:nvGrpSpPr>
        <ns0:cNvPr id="294" name="Shape 294"/>
        <ns0:cNvGrpSpPr/>
        <ns0:nvPr/>
      </ns0:nvGrpSpPr>
      <ns0:grpSpPr>
        <ns1:xfrm>
          <ns1:off x="0" y="0"/>
          <ns1:ext cx="0" cy="0"/>
          <ns1:chOff x="0" y="0"/>
          <ns1:chExt cx="0" cy="0"/>
        </ns1:xfrm>
      </ns0:grpSpPr>
      <ns0:sp>
        <ns0:nvSpPr>
          <ns0:cNvPr id="295" name="Google Shape;295;hack_12:notes"/>
          <ns0:cNvSpPr/>
          <ns0:nvPr>
            <ns0:ph idx="2" type="sldImg"/>
          </ns0:nvPr>
        </ns0:nvSpPr>
        <ns0:spPr>
          <ns1:xfrm>
            <ns1:off x="685800" y="1143000"/>
            <ns1:ext cx="5486400" cy="3086100"/>
          </ns1:xfrm>
          <ns1:custGeom>
            <ns1:rect b="b" l="l" r="r" t="t"/>
            <ns1:pathLst>
              <ns1:path extrusionOk="0" h="120000" w="120000">
                <ns1:moveTo>
                  <ns1:pt x="0" y="0"/>
                </ns1:moveTo>
                <ns1:lnTo>
                  <ns1:pt x="120000" y="0"/>
                </ns1:lnTo>
                <ns1:lnTo>
                  <ns1:pt x="120000" y="120000"/>
                </ns1:lnTo>
                <ns1:lnTo>
                  <ns1:pt x="0" y="120000"/>
                </ns1:lnTo>
                <ns1:close/>
              </ns1:path>
            </ns1:pathLst>
          </ns1:custGeom>
          <ns1:noFill/>
          <ns1:ln cap="flat" cmpd="sng" w="12700">
            <ns1:solidFill>
              <ns1:srgbClr val="000000"/>
            </ns1:solidFill>
            <ns1:prstDash val="solid"/>
            <ns1:round/>
            <ns1:headEnd len="sm" w="sm" type="none"/>
            <ns1:tailEnd len="sm" w="sm" type="none"/>
          </ns1:ln>
        </ns0:spPr>
      </ns0:sp>
      <ns0:sp>
        <ns0:nvSpPr>
          <ns0:cNvPr id="296" name="Google Shape;296;hack_12:notes"/>
          <ns0:cNvSpPr txBox="1"/>
          <ns0:nvPr>
            <ns0:ph idx="1" type="body"/>
          </ns0:nvPr>
        </ns0:nvSpPr>
        <ns0:spPr>
          <ns1:xfrm>
            <ns1:off x="685800" y="4400550"/>
            <ns1:ext cx="5486400" cy="3600600"/>
          </ns1:xfrm>
          <ns1:prstGeom prst="rect">
            <ns1:avLst/>
          </ns1:prstGeom>
          <ns1:noFill/>
          <ns1:ln>
            <ns1:noFill/>
          </ns1:ln>
        </ns0:spPr>
        <ns0:txBody>
          <ns1:bodyPr anchorCtr="0" anchor="t" bIns="45700" lIns="91425" spcFirstLastPara="1" rIns="91425" wrap="square" tIns="45700">
            <ns1:noAutofit/>
          </ns1:bodyPr>
          <ns1:lstStyle/>
          <ns1:p>
            <ns1:pPr indent="0" lvl="0" marL="0" rtl="0" algn="l">
              <ns1:spcBef>
                <ns1:spcPts val="0"/>
              </ns1:spcBef>
              <ns1:spcAft>
                <ns1:spcPts val="0"/>
              </ns1:spcAft>
              <ns1:buNone/>
            </ns1:pPr>
            <ns1:r>
              <ns1:rPr lang="en-US"/>
              <ns1:t>23:00–23:10. Confirm arithmetic and discuss lessons. Ask which claim changed under investigation, which negative control mattered, and what another team saw that the builders missed. 23:10–23:15. Invite one practice to take home. Keep rewards undecided; make no promise on behalf of Cognitum or another provider. Close at 23:15. This slide adapts the HUSTEF independent-verification layout into three debrief prompts. The original HUSTEF deck remains unchanged.</ns1:t>
            </ns1:r>
            <ns1:endParaRPr/>
          </ns1:p>
        </ns0:txBody>
      </ns0:sp>
      <ns0:sp>
        <ns0:nvSpPr>
          <ns0:cNvPr id="297" name="Google Shape;297;hack_12:notes"/>
          <ns0:cNvSpPr txBox="1"/>
          <ns0:nvPr>
            <ns0:ph idx="12" type="sldNum"/>
          </ns0:nvPr>
        </ns0:nvSpPr>
        <ns0:spPr>
          <ns1:xfrm>
            <ns1:off x="3884613" y="8685213"/>
            <ns1:ext cx="2971800" cy="458700"/>
          </ns1:xfrm>
          <ns1:prstGeom prst="rect">
            <ns1:avLst/>
          </ns1:prstGeom>
          <ns1:noFill/>
          <ns1:ln>
            <ns1:noFill/>
          </ns1:ln>
        </ns0:spPr>
        <ns0:txBody>
          <ns1:bodyPr anchorCtr="0" anchor="b" bIns="45700" lIns="91425" spcFirstLastPara="1" rIns="91425" wrap="square" tIns="45700">
            <ns1:noAutofit/>
          </ns1:bodyPr>
          <ns1:lstStyle/>
          <ns1:p>
            <ns1:pPr indent="0" lvl="0" marL="0" rtl="0" algn="r">
              <ns1:spcBef>
                <ns1:spcPts val="0"/>
              </ns1:spcBef>
              <ns1:spcAft>
                <ns1:spcPts val="0"/>
              </ns1:spcAft>
              <ns1:buNone/>
            </ns1:pPr>
            <ns1:fld id="{00000000-1234-1234-1234-123412341234}" type="slidenum">
              <ns1:rPr lang="en-US"/>
              <ns1:t>‹#›</ns1:t>
            </ns1:fld>
            <ns1:endParaRPr/>
          </ns1:p>
        </ns0:txBody>
      </ns0:sp>
    </ns0:spTree>
  </ns0:cSld>
  <ns0:clrMapOvr>
    <ns1:masterClrMapping/>
  </ns0:clrMapOvr>
</ns0: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B60"/>
        </a:solidFill>
      </p:bgPr>
    </p:bg>
    <p:spTree>
      <p:nvGrpSpPr>
        <p:cNvPr id="15" name="Shape 15"/>
        <p:cNvGrpSpPr/>
        <p:nvPr/>
      </p:nvGrpSpPr>
      <p:grpSpPr>
        <a:xfrm>
          <a:off x="0" y="0"/>
          <a:ext cx="0" cy="0"/>
          <a:chOff x="0" y="0"/>
          <a:chExt cx="0" cy="0"/>
        </a:xfrm>
      </p:grpSpPr>
      <p:sp>
        <p:nvSpPr>
          <p:cNvPr id="16" name="Google Shape;16;p3"/>
          <p:cNvSpPr txBox="1"/>
          <p:nvPr/>
        </p:nvSpPr>
        <p:spPr>
          <a:xfrm>
            <a:off x="822960" y="777240"/>
            <a:ext cx="10515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FAB"/>
              </a:buClr>
              <a:buSzPts val="1400"/>
              <a:buFont typeface="Arial"/>
              <a:buNone/>
            </a:pPr>
            <a:r>
              <a:rPr b="1" lang="en-US">
                <a:solidFill>
                  <a:srgbClr val="FF8FAB"/>
                </a:solidFill>
              </a:rPr>
              <a:t>AGILE TESTING DAYS 2026  ·  18 NOVEMBER  ·  20:15–23:15</a:t>
            </a:r>
            <a:endParaRPr b="1" cap="none">
              <a:solidFill>
                <a:srgbClr val="FF8FAB"/>
              </a:solidFill>
            </a:endParaRPr>
          </a:p>
        </p:txBody>
      </p:sp>
      <p:sp>
        <p:nvSpPr>
          <p:cNvPr id="17" name="Google Shape;17;p3"/>
          <p:cNvSpPr txBox="1"/>
          <p:nvPr/>
        </p:nvSpPr>
        <p:spPr>
          <a:xfrm>
            <a:off x="822960" y="1554480"/>
            <a:ext cx="10607100" cy="2286000"/>
          </a:xfrm>
          <a:prstGeom prst="rect">
            <a:avLst/>
          </a:prstGeom>
          <a:noFill/>
          <a:ln>
            <a:noFill/>
          </a:ln>
        </p:spPr>
        <p:txBody>
          <a:bodyPr anchorCtr="0" anchor="ctr" bIns="0" lIns="0" spcFirstLastPara="1" rIns="0" wrap="square" tIns="0">
            <a:noAutofit/>
          </a:bodyPr>
          <a:lstStyle/>
          <a:p>
            <a:pPr indent="0" lvl="0" marL="0" marR="0" rtl="0" algn="l">
              <a:lnSpc>
                <a:spcPct val="114814"/>
              </a:lnSpc>
              <a:spcBef>
                <a:spcPts val="0"/>
              </a:spcBef>
              <a:spcAft>
                <a:spcPts val="0"/>
              </a:spcAft>
              <a:buClr>
                <a:srgbClr val="FFFFFF"/>
              </a:buClr>
              <a:buSzPts val="5400"/>
              <a:buFont typeface="Arial"/>
              <a:buNone/>
            </a:pPr>
            <a:r>
              <a:rPr b="1" lang="en-US" sz="5400">
                <a:solidFill>
                  <a:srgbClr val="FFFFFF"/>
                </a:solidFill>
              </a:rPr>
              <a:t>Completion Theater</a:t>
            </a:r>
            <a:endParaRPr b="1" sz="5400">
              <a:solidFill>
                <a:srgbClr val="FFFFFF"/>
              </a:solidFill>
            </a:endParaRPr>
          </a:p>
          <a:p>
            <a:pPr indent="0" lvl="0" marL="0" marR="0" rtl="0" algn="l">
              <a:lnSpc>
                <a:spcPct val="114814"/>
              </a:lnSpc>
              <a:spcBef>
                <a:spcPts val="0"/>
              </a:spcBef>
              <a:spcAft>
                <a:spcPts val="0"/>
              </a:spcAft>
              <a:buClr>
                <a:srgbClr val="FFFFFF"/>
              </a:buClr>
              <a:buSzPts val="5400"/>
              <a:buFont typeface="Arial"/>
              <a:buNone/>
            </a:pPr>
            <a:r>
              <a:rPr b="1" lang="en-US" sz="5400">
                <a:solidFill>
                  <a:srgbClr val="FF80A6"/>
                </a:solidFill>
              </a:rPr>
              <a:t>Hackathon</a:t>
            </a:r>
            <a:endParaRPr b="1" sz="5400">
              <a:solidFill>
                <a:srgbClr val="FF80A6"/>
              </a:solidFill>
            </a:endParaRPr>
          </a:p>
        </p:txBody>
      </p:sp>
      <p:sp>
        <p:nvSpPr>
          <p:cNvPr id="18" name="Google Shape;18;p3"/>
          <p:cNvSpPr txBox="1"/>
          <p:nvPr/>
        </p:nvSpPr>
        <p:spPr>
          <a:xfrm>
            <a:off x="822960" y="3886200"/>
            <a:ext cx="10515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C6E4"/>
              </a:buClr>
              <a:buSzPts val="2400"/>
              <a:buFont typeface="Arial"/>
              <a:buNone/>
            </a:pPr>
            <a:r>
              <a:rPr lang="en-US" sz="2400">
                <a:solidFill>
                  <a:srgbClr val="B9C6E4"/>
                </a:solidFill>
              </a:rPr>
              <a:t>Build It, Prove It, Smash It</a:t>
            </a:r>
            <a:endParaRPr sz="2400" cap="none">
              <a:solidFill>
                <a:srgbClr val="B9C6E4"/>
              </a:solidFill>
            </a:endParaRPr>
          </a:p>
        </p:txBody>
      </p:sp>
      <p:sp>
        <p:nvSpPr>
          <p:cNvPr id="19" name="Google Shape;19;p3"/>
          <p:cNvSpPr txBox="1"/>
          <p:nvPr/>
        </p:nvSpPr>
        <p:spPr>
          <a:xfrm>
            <a:off x="822960" y="5394960"/>
            <a:ext cx="10515600" cy="82290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Clr>
                <a:srgbClr val="FFFFFF"/>
              </a:buClr>
              <a:buSzPts val="1500"/>
              <a:buFont typeface="Arial"/>
              <a:buNone/>
            </a:pPr>
            <a:r>
              <a:rPr lang="en-US" sz="1500">
                <a:solidFill>
                  <a:srgbClr val="FFFFFF"/>
                </a:solidFill>
              </a:rPr>
              <a:t>Dragan “Profa” Spiridonov  ·  Lalitkumar Bhamare</a:t>
            </a:r>
            <a:endParaRPr sz="1500">
              <a:solidFill>
                <a:srgbClr val="FFFFFF"/>
              </a:solidFill>
            </a:endParaRPr>
          </a:p>
          <a:p>
            <a:pPr indent="0" lvl="0" marL="0" marR="0" rtl="0" algn="l">
              <a:lnSpc>
                <a:spcPct val="160000"/>
              </a:lnSpc>
              <a:spcBef>
                <a:spcPts val="0"/>
              </a:spcBef>
              <a:spcAft>
                <a:spcPts val="0"/>
              </a:spcAft>
              <a:buClr>
                <a:srgbClr val="FFFFFF"/>
              </a:buClr>
              <a:buSzPts val="1500"/>
              <a:buFont typeface="Arial"/>
              <a:buNone/>
            </a:pPr>
            <a:r>
              <a:rPr lang="en-US" sz="1500">
                <a:solidFill>
                  <a:srgbClr val="FFFFFF"/>
                </a:solidFill>
              </a:rPr>
              <a:t>Room E2+E3  ·  A three-hour investigation</a:t>
            </a:r>
            <a:endParaRPr sz="150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 name="Shape 24"/>
        <p:cNvGrpSpPr/>
        <p:nvPr/>
      </p:nvGrpSpPr>
      <p:grpSpPr>
        <a:xfrm>
          <a:off x="0" y="0"/>
          <a:ext cx="0" cy="0"/>
          <a:chOff x="0" y="0"/>
          <a:chExt cx="0" cy="0"/>
        </a:xfrm>
      </p:grpSpPr>
      <p:sp>
        <p:nvSpPr>
          <p:cNvPr id="25" name="Google Shape;25;p4"/>
          <p:cNvSpPr txBox="1"/>
          <p:nvPr/>
        </p:nvSpPr>
        <p:spPr>
          <a:xfrm>
            <a:off x="502920" y="6473952"/>
            <a:ext cx="6400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5"/>
              </a:buClr>
              <a:buSzPts val="900"/>
              <a:buFont typeface="Arial"/>
              <a:buNone/>
            </a:pPr>
            <a:r>
              <a:rPr lang="en-US" sz="900">
                <a:solidFill>
                  <a:srgbClr val="5A6B85"/>
                </a:solidFill>
              </a:rPr>
              <a:t>ATD 2026 · Completion Theater Hackathon</a:t>
            </a:r>
            <a:endParaRPr sz="900" cap="none">
              <a:solidFill>
                <a:srgbClr val="5A6B85"/>
              </a:solidFill>
            </a:endParaRPr>
          </a:p>
        </p:txBody>
      </p:sp>
      <p:sp>
        <p:nvSpPr>
          <p:cNvPr id="26" name="Google Shape;26;p4"/>
          <p:cNvSpPr txBox="1"/>
          <p:nvPr/>
        </p:nvSpPr>
        <p:spPr>
          <a:xfrm>
            <a:off x="11231575" y="647395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5"/>
              </a:buClr>
              <a:buSzPts val="900"/>
              <a:buFont typeface="Arial"/>
              <a:buNone/>
            </a:pPr>
            <a:r>
              <a:rPr lang="en-US" sz="900">
                <a:solidFill>
                  <a:srgbClr val="5A6B85"/>
                </a:solidFill>
              </a:rPr>
              <a:t>2</a:t>
            </a:r>
            <a:endParaRPr sz="900" cap="none">
              <a:solidFill>
                <a:srgbClr val="5A6B85"/>
              </a:solidFill>
            </a:endParaRPr>
          </a:p>
        </p:txBody>
      </p:sp>
      <p:sp>
        <p:nvSpPr>
          <p:cNvPr id="27" name="Google Shape;27;p4"/>
          <p:cNvSpPr/>
          <p:nvPr/>
        </p:nvSpPr>
        <p:spPr>
          <a:xfrm>
            <a:off x="1463040" y="914400"/>
            <a:ext cx="9235500" cy="3566100"/>
          </a:xfrm>
          <a:prstGeom prst="roundRect">
            <a:avLst>
              <a:gd fmla="val 1538" name="adj"/>
            </a:avLst>
          </a:prstGeom>
          <a:solidFill>
            <a:srgbClr val="0D13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1783080" y="1188720"/>
            <a:ext cx="128100" cy="128100"/>
          </a:xfrm>
          <a:prstGeom prst="ellipse">
            <a:avLst/>
          </a:prstGeom>
          <a:solidFill>
            <a:srgbClr val="C01E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2057400" y="1188720"/>
            <a:ext cx="128100" cy="128100"/>
          </a:xfrm>
          <a:prstGeom prst="ellipse">
            <a:avLst/>
          </a:prstGeom>
          <a:solidFill>
            <a:srgbClr val="5A6B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2331720" y="1188720"/>
            <a:ext cx="128100" cy="128100"/>
          </a:xfrm>
          <a:prstGeom prst="ellipse">
            <a:avLst/>
          </a:prstGeom>
          <a:solidFill>
            <a:srgbClr val="B9C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txBox="1"/>
          <p:nvPr/>
        </p:nvSpPr>
        <p:spPr>
          <a:xfrm>
            <a:off x="1828800" y="1554480"/>
            <a:ext cx="8503800" cy="27432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FFFFFF"/>
              </a:buClr>
              <a:buSzPts val="2000"/>
              <a:buFont typeface="Courier New"/>
              <a:buNone/>
            </a:pPr>
            <a:r>
              <a:rPr b="1" i="0" lang="en-US" sz="2000" u="none" cap="none" strike="noStrike">
                <a:solidFill>
                  <a:srgbClr val="FFFFFF"/>
                </a:solidFill>
                <a:latin typeface="Courier New"/>
                <a:ea typeface="Courier New"/>
                <a:cs typeface="Courier New"/>
                <a:sym typeface="Courier New"/>
              </a:rPr>
              <a:t>$ agent status</a:t>
            </a:r>
            <a:br>
              <a:rPr b="1" i="0" lang="en-US" sz="2000" u="none" cap="none" strike="noStrike">
                <a:solidFill>
                  <a:srgbClr val="FFFFFF"/>
                </a:solidFill>
                <a:latin typeface="Courier New"/>
                <a:ea typeface="Courier New"/>
                <a:cs typeface="Courier New"/>
                <a:sym typeface="Courier New"/>
              </a:rPr>
            </a:br>
            <a:r>
              <a:rPr b="0" i="0" lang="en-US" sz="2000" u="none" cap="none" strike="noStrike">
                <a:solidFill>
                  <a:srgbClr val="B9C6E4"/>
                </a:solidFill>
                <a:latin typeface="Courier New"/>
                <a:ea typeface="Courier New"/>
                <a:cs typeface="Courier New"/>
                <a:sym typeface="Courier New"/>
              </a:rPr>
              <a:t>✔ Done. 47/47 tests passing.</a:t>
            </a:r>
            <a:br>
              <a:rPr b="0" i="0" lang="en-US" sz="2000" u="none" cap="none" strike="noStrike">
                <a:solidFill>
                  <a:srgbClr val="B9C6E4"/>
                </a:solidFill>
                <a:latin typeface="Courier New"/>
                <a:ea typeface="Courier New"/>
                <a:cs typeface="Courier New"/>
                <a:sym typeface="Courier New"/>
              </a:rPr>
            </a:br>
            <a:r>
              <a:rPr b="0" i="0" lang="en-US" sz="2000" u="none" cap="none" strike="noStrike">
                <a:solidFill>
                  <a:srgbClr val="B9C6E4"/>
                </a:solidFill>
                <a:latin typeface="Courier New"/>
                <a:ea typeface="Courier New"/>
                <a:cs typeface="Courier New"/>
                <a:sym typeface="Courier New"/>
              </a:rPr>
              <a:t>✔ Coverage: 94%. Ready to ship.</a:t>
            </a:r>
            <a:br>
              <a:rPr b="0" i="0" lang="en-US" sz="2000" u="none" cap="none" strike="noStrike">
                <a:solidFill>
                  <a:srgbClr val="B9C6E4"/>
                </a:solidFill>
                <a:latin typeface="Courier New"/>
                <a:ea typeface="Courier New"/>
                <a:cs typeface="Courier New"/>
                <a:sym typeface="Courier New"/>
              </a:rPr>
            </a:br>
            <a:br>
              <a:rPr b="0" i="0" lang="en-US" sz="2000" u="none" cap="none" strike="noStrike">
                <a:solidFill>
                  <a:srgbClr val="000000"/>
                </a:solidFill>
                <a:latin typeface="Courier New"/>
                <a:ea typeface="Courier New"/>
                <a:cs typeface="Courier New"/>
                <a:sym typeface="Courier New"/>
              </a:rPr>
            </a:br>
            <a:r>
              <a:rPr b="1" i="0" lang="en-US" sz="2000" u="none" cap="none" strike="noStrike">
                <a:solidFill>
                  <a:srgbClr val="FFFFFF"/>
                </a:solidFill>
                <a:latin typeface="Courier New"/>
                <a:ea typeface="Courier New"/>
                <a:cs typeface="Courier New"/>
                <a:sym typeface="Courier New"/>
              </a:rPr>
              <a:t>$ ls tests/</a:t>
            </a:r>
            <a:br>
              <a:rPr b="1" i="0" lang="en-US" sz="2000" u="none" cap="none" strike="noStrike">
                <a:solidFill>
                  <a:srgbClr val="FFFFFF"/>
                </a:solidFill>
                <a:latin typeface="Courier New"/>
                <a:ea typeface="Courier New"/>
                <a:cs typeface="Courier New"/>
                <a:sym typeface="Courier New"/>
              </a:rPr>
            </a:br>
            <a:r>
              <a:rPr b="1" i="0" lang="en-US" sz="2000" u="none" cap="none" strike="noStrike">
                <a:solidFill>
                  <a:srgbClr val="C01E4B"/>
                </a:solidFill>
                <a:latin typeface="Courier New"/>
                <a:ea typeface="Courier New"/>
                <a:cs typeface="Courier New"/>
                <a:sym typeface="Courier New"/>
              </a:rPr>
              <a:t>(empty)</a:t>
            </a:r>
            <a:endParaRPr b="0" i="0" sz="2000" u="none" cap="none" strike="noStrike">
              <a:solidFill>
                <a:schemeClr val="dk1"/>
              </a:solidFill>
              <a:latin typeface="Arial"/>
              <a:ea typeface="Arial"/>
              <a:cs typeface="Arial"/>
              <a:sym typeface="Arial"/>
            </a:endParaRPr>
          </a:p>
        </p:txBody>
      </p:sp>
      <p:sp>
        <p:nvSpPr>
          <p:cNvPr id="32" name="Google Shape;32;p4"/>
          <p:cNvSpPr txBox="1"/>
          <p:nvPr/>
        </p:nvSpPr>
        <p:spPr>
          <a:xfrm>
            <a:off x="1463040" y="4846320"/>
            <a:ext cx="92355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B60"/>
              </a:buClr>
              <a:buSzPts val="2400"/>
              <a:buFont typeface="Arial"/>
              <a:buNone/>
            </a:pPr>
            <a:r>
              <a:rPr b="1" i="0" lang="en-US" sz="2400" u="none" cap="none" strike="noStrike">
                <a:solidFill>
                  <a:srgbClr val="000B60"/>
                </a:solidFill>
                <a:latin typeface="Arial"/>
                <a:ea typeface="Arial"/>
                <a:cs typeface="Arial"/>
                <a:sym typeface="Arial"/>
              </a:rPr>
              <a:t>Most of you have seen this.</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 name="Shape 37"/>
        <p:cNvGrpSpPr/>
        <p:nvPr/>
      </p:nvGrpSpPr>
      <p:grpSpPr>
        <a:xfrm>
          <a:off x="0" y="0"/>
          <a:ext cx="0" cy="0"/>
          <a:chOff x="0" y="0"/>
          <a:chExt cx="0" cy="0"/>
        </a:xfrm>
      </p:grpSpPr>
      <p:sp>
        <p:nvSpPr>
          <p:cNvPr id="38" name="Google Shape;38;p5"/>
          <p:cNvSpPr txBox="1"/>
          <p:nvPr/>
        </p:nvSpPr>
        <p:spPr>
          <a:xfrm>
            <a:off x="502920" y="6473952"/>
            <a:ext cx="6400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5"/>
              </a:buClr>
              <a:buSzPts val="900"/>
              <a:buFont typeface="Arial"/>
              <a:buNone/>
            </a:pPr>
            <a:r>
              <a:rPr lang="en-US" sz="900">
                <a:solidFill>
                  <a:srgbClr val="5A6B85"/>
                </a:solidFill>
              </a:rPr>
              <a:t>ATD 2026 · Completion Theater Hackathon</a:t>
            </a:r>
            <a:endParaRPr sz="900" cap="none">
              <a:solidFill>
                <a:srgbClr val="5A6B85"/>
              </a:solidFill>
            </a:endParaRPr>
          </a:p>
        </p:txBody>
      </p:sp>
      <p:sp>
        <p:nvSpPr>
          <p:cNvPr id="39" name="Google Shape;39;p5"/>
          <p:cNvSpPr txBox="1"/>
          <p:nvPr/>
        </p:nvSpPr>
        <p:spPr>
          <a:xfrm>
            <a:off x="11231575" y="647395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5"/>
              </a:buClr>
              <a:buSzPts val="900"/>
              <a:buFont typeface="Arial"/>
              <a:buNone/>
            </a:pPr>
            <a:r>
              <a:rPr lang="en-US" sz="900">
                <a:solidFill>
                  <a:srgbClr val="5A6B85"/>
                </a:solidFill>
              </a:rPr>
              <a:t>3</a:t>
            </a:r>
            <a:endParaRPr sz="900" cap="none">
              <a:solidFill>
                <a:srgbClr val="5A6B85"/>
              </a:solidFill>
            </a:endParaRPr>
          </a:p>
        </p:txBody>
      </p:sp>
      <p:sp>
        <p:nvSpPr>
          <p:cNvPr id="40" name="Google Shape;40;p5"/>
          <p:cNvSpPr txBox="1"/>
          <p:nvPr/>
        </p:nvSpPr>
        <p:spPr>
          <a:xfrm>
            <a:off x="502920" y="384048"/>
            <a:ext cx="111558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1200"/>
              <a:buFont typeface="Arial"/>
              <a:buNone/>
            </a:pPr>
            <a:r>
              <a:rPr b="1" i="0" lang="en-US" sz="1200" u="none" cap="none" strike="noStrike">
                <a:solidFill>
                  <a:srgbClr val="C01E4B"/>
                </a:solidFill>
                <a:latin typeface="Arial"/>
                <a:ea typeface="Arial"/>
                <a:cs typeface="Arial"/>
                <a:sym typeface="Arial"/>
              </a:rPr>
              <a:t>FIELD GUIDE · PART 1</a:t>
            </a:r>
            <a:endParaRPr b="0" i="0" sz="1200" u="none" cap="none" strike="noStrike">
              <a:solidFill>
                <a:schemeClr val="dk1"/>
              </a:solidFill>
              <a:latin typeface="Arial"/>
              <a:ea typeface="Arial"/>
              <a:cs typeface="Arial"/>
              <a:sym typeface="Arial"/>
            </a:endParaRPr>
          </a:p>
        </p:txBody>
      </p:sp>
      <p:sp>
        <p:nvSpPr>
          <p:cNvPr id="41" name="Google Shape;41;p5"/>
          <p:cNvSpPr txBox="1"/>
          <p:nvPr/>
        </p:nvSpPr>
        <p:spPr>
          <a:xfrm>
            <a:off x="502920" y="676656"/>
            <a:ext cx="111558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3000"/>
              <a:buFont typeface="Arial"/>
              <a:buNone/>
            </a:pPr>
            <a:r>
              <a:rPr b="1" i="0" lang="en-US" sz="3000" u="none" cap="none" strike="noStrike">
                <a:solidFill>
                  <a:srgbClr val="000B60"/>
                </a:solidFill>
                <a:latin typeface="Arial"/>
                <a:ea typeface="Arial"/>
                <a:cs typeface="Arial"/>
                <a:sym typeface="Arial"/>
              </a:rPr>
              <a:t>The five patterns of silent failure</a:t>
            </a:r>
            <a:endParaRPr b="0" i="0" sz="3000" u="none" cap="none" strike="noStrike">
              <a:solidFill>
                <a:schemeClr val="dk1"/>
              </a:solidFill>
              <a:latin typeface="Arial"/>
              <a:ea typeface="Arial"/>
              <a:cs typeface="Arial"/>
              <a:sym typeface="Arial"/>
            </a:endParaRPr>
          </a:p>
        </p:txBody>
      </p:sp>
      <p:sp>
        <p:nvSpPr>
          <p:cNvPr id="42" name="Google Shape;42;p5"/>
          <p:cNvSpPr/>
          <p:nvPr/>
        </p:nvSpPr>
        <p:spPr>
          <a:xfrm>
            <a:off x="502920" y="1783080"/>
            <a:ext cx="11201400" cy="713100"/>
          </a:xfrm>
          <a:prstGeom prst="roundRect">
            <a:avLst>
              <a:gd fmla="val 6410"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txBox="1"/>
          <p:nvPr/>
        </p:nvSpPr>
        <p:spPr>
          <a:xfrm>
            <a:off x="777240" y="1911096"/>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i="0" lang="en-US" sz="2000" u="none" cap="none" strike="noStrike">
                <a:solidFill>
                  <a:srgbClr val="C01E4B"/>
                </a:solidFill>
                <a:latin typeface="Arial"/>
                <a:ea typeface="Arial"/>
                <a:cs typeface="Arial"/>
                <a:sym typeface="Arial"/>
              </a:rPr>
              <a:t>01</a:t>
            </a:r>
            <a:endParaRPr b="0" i="0" sz="2000" u="none" cap="none" strike="noStrike">
              <a:solidFill>
                <a:schemeClr val="dk1"/>
              </a:solidFill>
              <a:latin typeface="Arial"/>
              <a:ea typeface="Arial"/>
              <a:cs typeface="Arial"/>
              <a:sym typeface="Arial"/>
            </a:endParaRPr>
          </a:p>
        </p:txBody>
      </p:sp>
      <p:sp>
        <p:nvSpPr>
          <p:cNvPr id="44" name="Google Shape;44;p5"/>
          <p:cNvSpPr txBox="1"/>
          <p:nvPr/>
        </p:nvSpPr>
        <p:spPr>
          <a:xfrm>
            <a:off x="1508760" y="1956816"/>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i="0" lang="en-US" sz="1600" u="none" cap="none" strike="noStrike">
                <a:solidFill>
                  <a:srgbClr val="000B60"/>
                </a:solidFill>
                <a:latin typeface="Arial"/>
                <a:ea typeface="Arial"/>
                <a:cs typeface="Arial"/>
                <a:sym typeface="Arial"/>
              </a:rPr>
              <a:t>GHOST DATABASE</a:t>
            </a:r>
            <a:endParaRPr b="0" i="0" sz="1600" u="none" cap="none" strike="noStrike">
              <a:solidFill>
                <a:schemeClr val="dk1"/>
              </a:solidFill>
              <a:latin typeface="Arial"/>
              <a:ea typeface="Arial"/>
              <a:cs typeface="Arial"/>
              <a:sym typeface="Arial"/>
            </a:endParaRPr>
          </a:p>
        </p:txBody>
      </p:sp>
      <p:sp>
        <p:nvSpPr>
          <p:cNvPr id="45" name="Google Shape;45;p5"/>
          <p:cNvSpPr txBox="1"/>
          <p:nvPr/>
        </p:nvSpPr>
        <p:spPr>
          <a:xfrm>
            <a:off x="4892040" y="1965960"/>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b="0" i="0" lang="en-US" sz="1400" u="none" cap="none" strike="noStrike">
                <a:solidFill>
                  <a:srgbClr val="1A2943"/>
                </a:solidFill>
                <a:latin typeface="Arial"/>
                <a:ea typeface="Arial"/>
                <a:cs typeface="Arial"/>
                <a:sym typeface="Arial"/>
              </a:rPr>
              <a:t>References data, databases, learning that don't exist — or are empty.</a:t>
            </a:r>
            <a:endParaRPr b="0" i="0" sz="1400" u="none" cap="none" strike="noStrike">
              <a:solidFill>
                <a:schemeClr val="dk1"/>
              </a:solidFill>
              <a:latin typeface="Arial"/>
              <a:ea typeface="Arial"/>
              <a:cs typeface="Arial"/>
              <a:sym typeface="Arial"/>
            </a:endParaRPr>
          </a:p>
        </p:txBody>
      </p:sp>
      <p:sp>
        <p:nvSpPr>
          <p:cNvPr id="46" name="Google Shape;46;p5"/>
          <p:cNvSpPr/>
          <p:nvPr/>
        </p:nvSpPr>
        <p:spPr>
          <a:xfrm>
            <a:off x="502920" y="2624328"/>
            <a:ext cx="11201400" cy="713100"/>
          </a:xfrm>
          <a:prstGeom prst="roundRect">
            <a:avLst>
              <a:gd fmla="val 641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5"/>
          <p:cNvSpPr txBox="1"/>
          <p:nvPr/>
        </p:nvSpPr>
        <p:spPr>
          <a:xfrm>
            <a:off x="777240" y="2752344"/>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i="0" lang="en-US" sz="2000" u="none" cap="none" strike="noStrike">
                <a:solidFill>
                  <a:srgbClr val="C01E4B"/>
                </a:solidFill>
                <a:latin typeface="Arial"/>
                <a:ea typeface="Arial"/>
                <a:cs typeface="Arial"/>
                <a:sym typeface="Arial"/>
              </a:rPr>
              <a:t>02</a:t>
            </a:r>
            <a:endParaRPr b="0" i="0" sz="2000" u="none" cap="none" strike="noStrike">
              <a:solidFill>
                <a:schemeClr val="dk1"/>
              </a:solidFill>
              <a:latin typeface="Arial"/>
              <a:ea typeface="Arial"/>
              <a:cs typeface="Arial"/>
              <a:sym typeface="Arial"/>
            </a:endParaRPr>
          </a:p>
        </p:txBody>
      </p:sp>
      <p:sp>
        <p:nvSpPr>
          <p:cNvPr id="48" name="Google Shape;48;p5"/>
          <p:cNvSpPr txBox="1"/>
          <p:nvPr/>
        </p:nvSpPr>
        <p:spPr>
          <a:xfrm>
            <a:off x="1508760" y="2798064"/>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i="0" lang="en-US" sz="1600" u="none" cap="none" strike="noStrike">
                <a:solidFill>
                  <a:srgbClr val="000B60"/>
                </a:solidFill>
                <a:latin typeface="Arial"/>
                <a:ea typeface="Arial"/>
                <a:cs typeface="Arial"/>
                <a:sym typeface="Arial"/>
              </a:rPr>
              <a:t>METRIC THEATER</a:t>
            </a:r>
            <a:endParaRPr b="0" i="0" sz="1600" u="none" cap="none" strike="noStrike">
              <a:solidFill>
                <a:schemeClr val="dk1"/>
              </a:solidFill>
              <a:latin typeface="Arial"/>
              <a:ea typeface="Arial"/>
              <a:cs typeface="Arial"/>
              <a:sym typeface="Arial"/>
            </a:endParaRPr>
          </a:p>
        </p:txBody>
      </p:sp>
      <p:sp>
        <p:nvSpPr>
          <p:cNvPr id="49" name="Google Shape;49;p5"/>
          <p:cNvSpPr txBox="1"/>
          <p:nvPr/>
        </p:nvSpPr>
        <p:spPr>
          <a:xfrm>
            <a:off x="4892040" y="2807208"/>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b="0" i="0" lang="en-US" sz="1400" u="none" cap="none" strike="noStrike">
                <a:solidFill>
                  <a:srgbClr val="1A2943"/>
                </a:solidFill>
                <a:latin typeface="Arial"/>
                <a:ea typeface="Arial"/>
                <a:cs typeface="Arial"/>
                <a:sym typeface="Arial"/>
              </a:rPr>
              <a:t>Coverage %, test counts, quality scores: fabricated or meaningless.</a:t>
            </a:r>
            <a:endParaRPr b="0" i="0" sz="1400" u="none" cap="none" strike="noStrike">
              <a:solidFill>
                <a:schemeClr val="dk1"/>
              </a:solidFill>
              <a:latin typeface="Arial"/>
              <a:ea typeface="Arial"/>
              <a:cs typeface="Arial"/>
              <a:sym typeface="Arial"/>
            </a:endParaRPr>
          </a:p>
        </p:txBody>
      </p:sp>
      <p:sp>
        <p:nvSpPr>
          <p:cNvPr id="50" name="Google Shape;50;p5"/>
          <p:cNvSpPr/>
          <p:nvPr/>
        </p:nvSpPr>
        <p:spPr>
          <a:xfrm>
            <a:off x="502920" y="3465576"/>
            <a:ext cx="11201400" cy="713100"/>
          </a:xfrm>
          <a:prstGeom prst="roundRect">
            <a:avLst>
              <a:gd fmla="val 6410"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txBox="1"/>
          <p:nvPr/>
        </p:nvSpPr>
        <p:spPr>
          <a:xfrm>
            <a:off x="777240" y="3593592"/>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i="0" lang="en-US" sz="2000" u="none" cap="none" strike="noStrike">
                <a:solidFill>
                  <a:srgbClr val="C01E4B"/>
                </a:solidFill>
                <a:latin typeface="Arial"/>
                <a:ea typeface="Arial"/>
                <a:cs typeface="Arial"/>
                <a:sym typeface="Arial"/>
              </a:rPr>
              <a:t>03</a:t>
            </a:r>
            <a:endParaRPr b="0" i="0" sz="2000" u="none" cap="none" strike="noStrike">
              <a:solidFill>
                <a:schemeClr val="dk1"/>
              </a:solidFill>
              <a:latin typeface="Arial"/>
              <a:ea typeface="Arial"/>
              <a:cs typeface="Arial"/>
              <a:sym typeface="Arial"/>
            </a:endParaRPr>
          </a:p>
        </p:txBody>
      </p:sp>
      <p:sp>
        <p:nvSpPr>
          <p:cNvPr id="52" name="Google Shape;52;p5"/>
          <p:cNvSpPr txBox="1"/>
          <p:nvPr/>
        </p:nvSpPr>
        <p:spPr>
          <a:xfrm>
            <a:off x="1508760" y="3639312"/>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i="0" lang="en-US" sz="1600" u="none" cap="none" strike="noStrike">
                <a:solidFill>
                  <a:srgbClr val="000B60"/>
                </a:solidFill>
                <a:latin typeface="Arial"/>
                <a:ea typeface="Arial"/>
                <a:cs typeface="Arial"/>
                <a:sym typeface="Arial"/>
              </a:rPr>
              <a:t>TEST THEATER</a:t>
            </a:r>
            <a:endParaRPr b="0" i="0" sz="1600" u="none" cap="none" strike="noStrike">
              <a:solidFill>
                <a:schemeClr val="dk1"/>
              </a:solidFill>
              <a:latin typeface="Arial"/>
              <a:ea typeface="Arial"/>
              <a:cs typeface="Arial"/>
              <a:sym typeface="Arial"/>
            </a:endParaRPr>
          </a:p>
        </p:txBody>
      </p:sp>
      <p:sp>
        <p:nvSpPr>
          <p:cNvPr id="53" name="Google Shape;53;p5"/>
          <p:cNvSpPr txBox="1"/>
          <p:nvPr/>
        </p:nvSpPr>
        <p:spPr>
          <a:xfrm>
            <a:off x="4892040" y="3648456"/>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b="0" i="0" lang="en-US" sz="1400" u="none" cap="none" strike="noStrike">
                <a:solidFill>
                  <a:srgbClr val="1A2943"/>
                </a:solidFill>
                <a:latin typeface="Arial"/>
                <a:ea typeface="Arial"/>
                <a:cs typeface="Arial"/>
                <a:sym typeface="Arial"/>
              </a:rPr>
              <a:t>Tests exist and pass — but assert nothing; mocked all the way down.</a:t>
            </a:r>
            <a:endParaRPr b="0" i="0" sz="1400" u="none" cap="none" strike="noStrike">
              <a:solidFill>
                <a:schemeClr val="dk1"/>
              </a:solidFill>
              <a:latin typeface="Arial"/>
              <a:ea typeface="Arial"/>
              <a:cs typeface="Arial"/>
              <a:sym typeface="Arial"/>
            </a:endParaRPr>
          </a:p>
        </p:txBody>
      </p:sp>
      <p:sp>
        <p:nvSpPr>
          <p:cNvPr id="54" name="Google Shape;54;p5"/>
          <p:cNvSpPr/>
          <p:nvPr/>
        </p:nvSpPr>
        <p:spPr>
          <a:xfrm>
            <a:off x="502920" y="4306824"/>
            <a:ext cx="11201400" cy="713100"/>
          </a:xfrm>
          <a:prstGeom prst="roundRect">
            <a:avLst>
              <a:gd fmla="val 641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txBox="1"/>
          <p:nvPr/>
        </p:nvSpPr>
        <p:spPr>
          <a:xfrm>
            <a:off x="777240" y="4434840"/>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i="0" lang="en-US" sz="2000" u="none" cap="none" strike="noStrike">
                <a:solidFill>
                  <a:srgbClr val="C01E4B"/>
                </a:solidFill>
                <a:latin typeface="Arial"/>
                <a:ea typeface="Arial"/>
                <a:cs typeface="Arial"/>
                <a:sym typeface="Arial"/>
              </a:rPr>
              <a:t>04</a:t>
            </a:r>
            <a:endParaRPr b="0" i="0" sz="2000" u="none" cap="none" strike="noStrike">
              <a:solidFill>
                <a:schemeClr val="dk1"/>
              </a:solidFill>
              <a:latin typeface="Arial"/>
              <a:ea typeface="Arial"/>
              <a:cs typeface="Arial"/>
              <a:sym typeface="Arial"/>
            </a:endParaRPr>
          </a:p>
        </p:txBody>
      </p:sp>
      <p:sp>
        <p:nvSpPr>
          <p:cNvPr id="56" name="Google Shape;56;p5"/>
          <p:cNvSpPr txBox="1"/>
          <p:nvPr/>
        </p:nvSpPr>
        <p:spPr>
          <a:xfrm>
            <a:off x="1508760" y="4480560"/>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i="0" lang="en-US" sz="1600" u="none" cap="none" strike="noStrike">
                <a:solidFill>
                  <a:srgbClr val="000B60"/>
                </a:solidFill>
                <a:latin typeface="Arial"/>
                <a:ea typeface="Arial"/>
                <a:cs typeface="Arial"/>
                <a:sym typeface="Arial"/>
              </a:rPr>
              <a:t>FALSE POSITIVES</a:t>
            </a:r>
            <a:endParaRPr b="0" i="0" sz="1600" u="none" cap="none" strike="noStrike">
              <a:solidFill>
                <a:schemeClr val="dk1"/>
              </a:solidFill>
              <a:latin typeface="Arial"/>
              <a:ea typeface="Arial"/>
              <a:cs typeface="Arial"/>
              <a:sym typeface="Arial"/>
            </a:endParaRPr>
          </a:p>
        </p:txBody>
      </p:sp>
      <p:sp>
        <p:nvSpPr>
          <p:cNvPr id="57" name="Google Shape;57;p5"/>
          <p:cNvSpPr txBox="1"/>
          <p:nvPr/>
        </p:nvSpPr>
        <p:spPr>
          <a:xfrm>
            <a:off x="4892040" y="4489704"/>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b="0" i="0" lang="en-US" sz="1400" u="none" cap="none" strike="noStrike">
                <a:solidFill>
                  <a:srgbClr val="1A2943"/>
                </a:solidFill>
                <a:latin typeface="Arial"/>
                <a:ea typeface="Arial"/>
                <a:cs typeface="Arial"/>
                <a:sym typeface="Arial"/>
              </a:rPr>
              <a:t>“Success” over a broken build, skipped tests, swallowed errors.</a:t>
            </a:r>
            <a:endParaRPr b="0" i="0" sz="1400" u="none" cap="none" strike="noStrike">
              <a:solidFill>
                <a:schemeClr val="dk1"/>
              </a:solidFill>
              <a:latin typeface="Arial"/>
              <a:ea typeface="Arial"/>
              <a:cs typeface="Arial"/>
              <a:sym typeface="Arial"/>
            </a:endParaRPr>
          </a:p>
        </p:txBody>
      </p:sp>
      <p:sp>
        <p:nvSpPr>
          <p:cNvPr id="58" name="Google Shape;58;p5"/>
          <p:cNvSpPr/>
          <p:nvPr/>
        </p:nvSpPr>
        <p:spPr>
          <a:xfrm>
            <a:off x="502920" y="5148072"/>
            <a:ext cx="11201400" cy="713100"/>
          </a:xfrm>
          <a:prstGeom prst="roundRect">
            <a:avLst>
              <a:gd fmla="val 6410"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txBox="1"/>
          <p:nvPr/>
        </p:nvSpPr>
        <p:spPr>
          <a:xfrm>
            <a:off x="777240" y="5276088"/>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i="0" lang="en-US" sz="2000" u="none" cap="none" strike="noStrike">
                <a:solidFill>
                  <a:srgbClr val="C01E4B"/>
                </a:solidFill>
                <a:latin typeface="Arial"/>
                <a:ea typeface="Arial"/>
                <a:cs typeface="Arial"/>
                <a:sym typeface="Arial"/>
              </a:rPr>
              <a:t>05</a:t>
            </a:r>
            <a:endParaRPr b="0" i="0" sz="2000" u="none" cap="none" strike="noStrike">
              <a:solidFill>
                <a:schemeClr val="dk1"/>
              </a:solidFill>
              <a:latin typeface="Arial"/>
              <a:ea typeface="Arial"/>
              <a:cs typeface="Arial"/>
              <a:sym typeface="Arial"/>
            </a:endParaRPr>
          </a:p>
        </p:txBody>
      </p:sp>
      <p:sp>
        <p:nvSpPr>
          <p:cNvPr id="60" name="Google Shape;60;p5"/>
          <p:cNvSpPr txBox="1"/>
          <p:nvPr/>
        </p:nvSpPr>
        <p:spPr>
          <a:xfrm>
            <a:off x="1508760" y="5321808"/>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i="0" lang="en-US" sz="1600" u="none" cap="none" strike="noStrike">
                <a:solidFill>
                  <a:srgbClr val="000B60"/>
                </a:solidFill>
                <a:latin typeface="Arial"/>
                <a:ea typeface="Arial"/>
                <a:cs typeface="Arial"/>
                <a:sym typeface="Arial"/>
              </a:rPr>
              <a:t>UNCOMMITTED ILLUSION</a:t>
            </a:r>
            <a:endParaRPr b="0" i="0" sz="1600" u="none" cap="none" strike="noStrike">
              <a:solidFill>
                <a:schemeClr val="dk1"/>
              </a:solidFill>
              <a:latin typeface="Arial"/>
              <a:ea typeface="Arial"/>
              <a:cs typeface="Arial"/>
              <a:sym typeface="Arial"/>
            </a:endParaRPr>
          </a:p>
        </p:txBody>
      </p:sp>
      <p:sp>
        <p:nvSpPr>
          <p:cNvPr id="61" name="Google Shape;61;p5"/>
          <p:cNvSpPr txBox="1"/>
          <p:nvPr/>
        </p:nvSpPr>
        <p:spPr>
          <a:xfrm>
            <a:off x="4892040" y="5330952"/>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Verify the delivered archive or commit. Missing local files do not count.</a:t>
            </a:r>
            <a:endParaRPr cap="none">
              <a:solidFill>
                <a:srgbClr val="1A2943"/>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 name="Shape 66"/>
        <p:cNvGrpSpPr/>
        <p:nvPr/>
      </p:nvGrpSpPr>
      <p:grpSpPr>
        <a:xfrm>
          <a:off x="0" y="0"/>
          <a:ext cx="0" cy="0"/>
          <a:chOff x="0" y="0"/>
          <a:chExt cx="0" cy="0"/>
        </a:xfrm>
      </p:grpSpPr>
      <p:sp>
        <p:nvSpPr>
          <p:cNvPr id="67" name="Google Shape;67;p6"/>
          <p:cNvSpPr txBox="1"/>
          <p:nvPr/>
        </p:nvSpPr>
        <p:spPr>
          <a:xfrm>
            <a:off x="502920" y="6473952"/>
            <a:ext cx="6400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5"/>
              </a:buClr>
              <a:buSzPts val="900"/>
              <a:buFont typeface="Arial"/>
              <a:buNone/>
            </a:pPr>
            <a:r>
              <a:rPr lang="en-US" sz="900">
                <a:solidFill>
                  <a:srgbClr val="5A6B85"/>
                </a:solidFill>
              </a:rPr>
              <a:t>ATD 2026 · Completion Theater Hackathon</a:t>
            </a:r>
            <a:endParaRPr sz="900" cap="none">
              <a:solidFill>
                <a:srgbClr val="5A6B85"/>
              </a:solidFill>
            </a:endParaRPr>
          </a:p>
        </p:txBody>
      </p:sp>
      <p:sp>
        <p:nvSpPr>
          <p:cNvPr id="68" name="Google Shape;68;p6"/>
          <p:cNvSpPr txBox="1"/>
          <p:nvPr/>
        </p:nvSpPr>
        <p:spPr>
          <a:xfrm>
            <a:off x="11231575" y="647395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5"/>
              </a:buClr>
              <a:buSzPts val="900"/>
              <a:buFont typeface="Arial"/>
              <a:buNone/>
            </a:pPr>
            <a:r>
              <a:rPr lang="en-US" sz="900">
                <a:solidFill>
                  <a:srgbClr val="5A6B85"/>
                </a:solidFill>
              </a:rPr>
              <a:t>4</a:t>
            </a:r>
            <a:endParaRPr sz="900" cap="none">
              <a:solidFill>
                <a:srgbClr val="5A6B85"/>
              </a:solidFill>
            </a:endParaRPr>
          </a:p>
        </p:txBody>
      </p:sp>
      <p:sp>
        <p:nvSpPr>
          <p:cNvPr id="69" name="Google Shape;69;p6"/>
          <p:cNvSpPr txBox="1"/>
          <p:nvPr/>
        </p:nvSpPr>
        <p:spPr>
          <a:xfrm>
            <a:off x="502920" y="384048"/>
            <a:ext cx="111558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1200"/>
              <a:buFont typeface="Arial"/>
              <a:buNone/>
            </a:pPr>
            <a:r>
              <a:rPr b="1" lang="en-US" sz="1200">
                <a:solidFill>
                  <a:srgbClr val="C01E4B"/>
                </a:solidFill>
              </a:rPr>
              <a:t>THE VERIFICATION REFLEX</a:t>
            </a:r>
            <a:endParaRPr b="1" sz="1200" cap="none">
              <a:solidFill>
                <a:srgbClr val="C01E4B"/>
              </a:solidFill>
            </a:endParaRPr>
          </a:p>
        </p:txBody>
      </p:sp>
      <p:sp>
        <p:nvSpPr>
          <p:cNvPr id="70" name="Google Shape;70;p6"/>
          <p:cNvSpPr txBox="1"/>
          <p:nvPr/>
        </p:nvSpPr>
        <p:spPr>
          <a:xfrm>
            <a:off x="502920" y="676656"/>
            <a:ext cx="111558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3000"/>
              <a:buFont typeface="Arial"/>
              <a:buNone/>
            </a:pPr>
            <a:r>
              <a:rPr b="1" lang="en-US" sz="3000">
                <a:solidFill>
                  <a:srgbClr val="000B60"/>
                </a:solidFill>
              </a:rPr>
              <a:t>Another team investigates the claim</a:t>
            </a:r>
            <a:endParaRPr b="1" sz="3000" cap="none">
              <a:solidFill>
                <a:srgbClr val="000B60"/>
              </a:solidFill>
            </a:endParaRPr>
          </a:p>
        </p:txBody>
      </p:sp>
      <p:sp>
        <p:nvSpPr>
          <p:cNvPr id="71" name="Google Shape;71;p6"/>
          <p:cNvSpPr txBox="1"/>
          <p:nvPr/>
        </p:nvSpPr>
        <p:spPr>
          <a:xfrm>
            <a:off x="502920" y="1783080"/>
            <a:ext cx="5120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5"/>
              </a:buClr>
              <a:buSzPts val="1200"/>
              <a:buFont typeface="Arial"/>
              <a:buNone/>
            </a:pPr>
            <a:r>
              <a:rPr b="1" lang="en-US" sz="1200">
                <a:solidFill>
                  <a:srgbClr val="5A6B85"/>
                </a:solidFill>
              </a:rPr>
              <a:t>THE TESTING PRACTICE</a:t>
            </a:r>
            <a:endParaRPr b="1" sz="1200" cap="none">
              <a:solidFill>
                <a:srgbClr val="5A6B85"/>
              </a:solidFill>
            </a:endParaRPr>
          </a:p>
        </p:txBody>
      </p:sp>
      <p:sp>
        <p:nvSpPr>
          <p:cNvPr id="72" name="Google Shape;72;p6"/>
          <p:cNvSpPr txBox="1"/>
          <p:nvPr/>
        </p:nvSpPr>
        <p:spPr>
          <a:xfrm>
            <a:off x="6537960" y="1783080"/>
            <a:ext cx="5120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1200"/>
              <a:buFont typeface="Arial"/>
              <a:buNone/>
            </a:pPr>
            <a:r>
              <a:rPr b="1" lang="en-US" sz="1200">
                <a:solidFill>
                  <a:srgbClr val="C01E4B"/>
                </a:solidFill>
              </a:rPr>
              <a:t>TONIGHT'S EVIDENCE</a:t>
            </a:r>
            <a:endParaRPr b="1" sz="1200" cap="none">
              <a:solidFill>
                <a:srgbClr val="C01E4B"/>
              </a:solidFill>
            </a:endParaRPr>
          </a:p>
        </p:txBody>
      </p:sp>
      <p:sp>
        <p:nvSpPr>
          <p:cNvPr id="73" name="Google Shape;73;p6"/>
          <p:cNvSpPr/>
          <p:nvPr/>
        </p:nvSpPr>
        <p:spPr>
          <a:xfrm>
            <a:off x="502920" y="2240280"/>
            <a:ext cx="5394900" cy="1115700"/>
          </a:xfrm>
          <a:prstGeom prst="roundRect">
            <a:avLst>
              <a:gd fmla="val 4918"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6"/>
          <p:cNvSpPr txBox="1"/>
          <p:nvPr/>
        </p:nvSpPr>
        <p:spPr>
          <a:xfrm>
            <a:off x="777240" y="2386584"/>
            <a:ext cx="4846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i="0" lang="en-US" sz="1600" u="none" cap="none" strike="noStrike">
                <a:solidFill>
                  <a:srgbClr val="000B60"/>
                </a:solidFill>
                <a:latin typeface="Arial"/>
                <a:ea typeface="Arial"/>
                <a:cs typeface="Arial"/>
                <a:sym typeface="Arial"/>
              </a:rPr>
              <a:t>Independent verification</a:t>
            </a:r>
            <a:endParaRPr b="0" i="0" sz="1600" u="none" cap="none" strike="noStrike">
              <a:solidFill>
                <a:schemeClr val="dk1"/>
              </a:solidFill>
              <a:latin typeface="Arial"/>
              <a:ea typeface="Arial"/>
              <a:cs typeface="Arial"/>
              <a:sym typeface="Arial"/>
            </a:endParaRPr>
          </a:p>
        </p:txBody>
      </p:sp>
      <p:sp>
        <p:nvSpPr>
          <p:cNvPr id="75" name="Google Shape;75;p6"/>
          <p:cNvSpPr txBox="1"/>
          <p:nvPr/>
        </p:nvSpPr>
        <p:spPr>
          <a:xfrm>
            <a:off x="777240" y="2788920"/>
            <a:ext cx="48462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300"/>
              <a:buFont typeface="Arial"/>
              <a:buNone/>
            </a:pPr>
            <a:r>
              <a:rPr lang="en-US" sz="1300">
                <a:solidFill>
                  <a:srgbClr val="1A2943"/>
                </a:solidFill>
              </a:rPr>
              <a:t>The builder explains; the auditor executes</a:t>
            </a:r>
            <a:endParaRPr sz="1300" cap="none">
              <a:solidFill>
                <a:srgbClr val="1A2943"/>
              </a:solidFill>
            </a:endParaRPr>
          </a:p>
        </p:txBody>
      </p:sp>
      <p:sp>
        <p:nvSpPr>
          <p:cNvPr id="76" name="Google Shape;76;p6"/>
          <p:cNvSpPr/>
          <p:nvPr/>
        </p:nvSpPr>
        <p:spPr>
          <a:xfrm>
            <a:off x="5989320" y="2624328"/>
            <a:ext cx="457200" cy="347400"/>
          </a:xfrm>
          <a:prstGeom prst="rightArrow">
            <a:avLst>
              <a:gd fmla="val 50000" name="adj1"/>
              <a:gd fmla="val 50000" name="adj2"/>
            </a:avLst>
          </a:prstGeom>
          <a:solidFill>
            <a:srgbClr val="C01E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
          <p:cNvSpPr/>
          <p:nvPr/>
        </p:nvSpPr>
        <p:spPr>
          <a:xfrm>
            <a:off x="6537960" y="2240280"/>
            <a:ext cx="5166300" cy="1115700"/>
          </a:xfrm>
          <a:prstGeom prst="roundRect">
            <a:avLst>
              <a:gd fmla="val 4918" name="adj"/>
            </a:avLst>
          </a:prstGeom>
          <a:solidFill>
            <a:srgbClr val="000B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txBox="1"/>
          <p:nvPr/>
        </p:nvSpPr>
        <p:spPr>
          <a:xfrm>
            <a:off x="6812280" y="2496312"/>
            <a:ext cx="4617600" cy="685800"/>
          </a:xfrm>
          <a:prstGeom prst="rect">
            <a:avLst/>
          </a:prstGeom>
          <a:noFill/>
          <a:ln>
            <a:noFill/>
          </a:ln>
        </p:spPr>
        <p:txBody>
          <a:bodyPr anchorCtr="0" anchor="ctr" bIns="0" lIns="0" spcFirstLastPara="1" rIns="0" wrap="square" tIns="0">
            <a:noAutofit/>
          </a:bodyPr>
          <a:lstStyle/>
          <a:p>
            <a:pPr indent="0" lvl="0" marL="0" marR="0" rtl="0" algn="l">
              <a:lnSpc>
                <a:spcPct val="135714"/>
              </a:lnSpc>
              <a:spcBef>
                <a:spcPts val="0"/>
              </a:spcBef>
              <a:spcAft>
                <a:spcPts val="0"/>
              </a:spcAft>
              <a:buClr>
                <a:srgbClr val="FFFFFF"/>
              </a:buClr>
              <a:buSzPts val="1400"/>
              <a:buFont typeface="Arial"/>
              <a:buNone/>
            </a:pPr>
            <a:r>
              <a:rPr lang="en-US">
                <a:solidFill>
                  <a:srgbClr val="FFFFFF"/>
                </a:solidFill>
              </a:rPr>
              <a:t>A different team runs the frozen artifact</a:t>
            </a:r>
            <a:endParaRPr cap="none">
              <a:solidFill>
                <a:srgbClr val="FFFFFF"/>
              </a:solidFill>
            </a:endParaRPr>
          </a:p>
        </p:txBody>
      </p:sp>
      <p:sp>
        <p:nvSpPr>
          <p:cNvPr id="79" name="Google Shape;79;p6"/>
          <p:cNvSpPr/>
          <p:nvPr/>
        </p:nvSpPr>
        <p:spPr>
          <a:xfrm>
            <a:off x="502920" y="3538728"/>
            <a:ext cx="5394900" cy="1115700"/>
          </a:xfrm>
          <a:prstGeom prst="roundRect">
            <a:avLst>
              <a:gd fmla="val 4918"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
          <p:cNvSpPr txBox="1"/>
          <p:nvPr/>
        </p:nvSpPr>
        <p:spPr>
          <a:xfrm>
            <a:off x="777240" y="3685032"/>
            <a:ext cx="4846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Forensic challenge</a:t>
            </a:r>
            <a:endParaRPr b="1" sz="1600" cap="none">
              <a:solidFill>
                <a:srgbClr val="000B60"/>
              </a:solidFill>
            </a:endParaRPr>
          </a:p>
        </p:txBody>
      </p:sp>
      <p:sp>
        <p:nvSpPr>
          <p:cNvPr id="81" name="Google Shape;81;p6"/>
          <p:cNvSpPr txBox="1"/>
          <p:nvPr/>
        </p:nvSpPr>
        <p:spPr>
          <a:xfrm>
            <a:off x="777240" y="4087368"/>
            <a:ext cx="48462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300"/>
              <a:buFont typeface="Arial"/>
              <a:buNone/>
            </a:pPr>
            <a:r>
              <a:rPr lang="en-US" sz="1300">
                <a:solidFill>
                  <a:srgbClr val="1A2943"/>
                </a:solidFill>
              </a:rPr>
              <a:t>Question the claim with a concrete oracle</a:t>
            </a:r>
            <a:endParaRPr sz="1300" cap="none">
              <a:solidFill>
                <a:srgbClr val="1A2943"/>
              </a:solidFill>
            </a:endParaRPr>
          </a:p>
        </p:txBody>
      </p:sp>
      <p:sp>
        <p:nvSpPr>
          <p:cNvPr id="82" name="Google Shape;82;p6"/>
          <p:cNvSpPr/>
          <p:nvPr/>
        </p:nvSpPr>
        <p:spPr>
          <a:xfrm>
            <a:off x="5989320" y="3922776"/>
            <a:ext cx="457200" cy="347400"/>
          </a:xfrm>
          <a:prstGeom prst="rightArrow">
            <a:avLst>
              <a:gd fmla="val 50000" name="adj1"/>
              <a:gd fmla="val 50000" name="adj2"/>
            </a:avLst>
          </a:prstGeom>
          <a:solidFill>
            <a:srgbClr val="C01E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6"/>
          <p:cNvSpPr/>
          <p:nvPr/>
        </p:nvSpPr>
        <p:spPr>
          <a:xfrm>
            <a:off x="6537960" y="3538728"/>
            <a:ext cx="5166300" cy="1115700"/>
          </a:xfrm>
          <a:prstGeom prst="roundRect">
            <a:avLst>
              <a:gd fmla="val 4918" name="adj"/>
            </a:avLst>
          </a:prstGeom>
          <a:solidFill>
            <a:srgbClr val="000B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6"/>
          <p:cNvSpPr txBox="1"/>
          <p:nvPr/>
        </p:nvSpPr>
        <p:spPr>
          <a:xfrm>
            <a:off x="6812280" y="3794760"/>
            <a:ext cx="4617600" cy="685800"/>
          </a:xfrm>
          <a:prstGeom prst="rect">
            <a:avLst/>
          </a:prstGeom>
          <a:noFill/>
          <a:ln>
            <a:noFill/>
          </a:ln>
        </p:spPr>
        <p:txBody>
          <a:bodyPr anchorCtr="0" anchor="ctr" bIns="0" lIns="0" spcFirstLastPara="1" rIns="0" wrap="square" tIns="0">
            <a:noAutofit/>
          </a:bodyPr>
          <a:lstStyle/>
          <a:p>
            <a:pPr indent="0" lvl="0" marL="0" marR="0" rtl="0" algn="l">
              <a:lnSpc>
                <a:spcPct val="135714"/>
              </a:lnSpc>
              <a:spcBef>
                <a:spcPts val="0"/>
              </a:spcBef>
              <a:spcAft>
                <a:spcPts val="0"/>
              </a:spcAft>
              <a:buClr>
                <a:srgbClr val="FFFFFF"/>
              </a:buClr>
              <a:buSzPts val="1400"/>
              <a:buFont typeface="Arial"/>
              <a:buNone/>
            </a:pPr>
            <a:r>
              <a:rPr lang="en-US">
                <a:solidFill>
                  <a:srgbClr val="FFFFFF"/>
                </a:solidFill>
              </a:rPr>
              <a:t>Capacity, replay, invalid input and restart</a:t>
            </a:r>
            <a:endParaRPr cap="none">
              <a:solidFill>
                <a:srgbClr val="FFFFFF"/>
              </a:solidFill>
            </a:endParaRPr>
          </a:p>
        </p:txBody>
      </p:sp>
      <p:sp>
        <p:nvSpPr>
          <p:cNvPr id="85" name="Google Shape;85;p6"/>
          <p:cNvSpPr/>
          <p:nvPr/>
        </p:nvSpPr>
        <p:spPr>
          <a:xfrm>
            <a:off x="502920" y="4837176"/>
            <a:ext cx="5394900" cy="1115700"/>
          </a:xfrm>
          <a:prstGeom prst="roundRect">
            <a:avLst>
              <a:gd fmla="val 4918"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txBox="1"/>
          <p:nvPr/>
        </p:nvSpPr>
        <p:spPr>
          <a:xfrm>
            <a:off x="777240" y="4983480"/>
            <a:ext cx="4846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i="0" lang="en-US" sz="1600" u="none" cap="none" strike="noStrike">
                <a:solidFill>
                  <a:srgbClr val="000B60"/>
                </a:solidFill>
                <a:latin typeface="Arial"/>
                <a:ea typeface="Arial"/>
                <a:cs typeface="Arial"/>
                <a:sym typeface="Arial"/>
              </a:rPr>
              <a:t>“Done” is a hypothesis</a:t>
            </a:r>
            <a:endParaRPr b="0" i="0" sz="1600" u="none" cap="none" strike="noStrike">
              <a:solidFill>
                <a:schemeClr val="dk1"/>
              </a:solidFill>
              <a:latin typeface="Arial"/>
              <a:ea typeface="Arial"/>
              <a:cs typeface="Arial"/>
              <a:sym typeface="Arial"/>
            </a:endParaRPr>
          </a:p>
        </p:txBody>
      </p:sp>
      <p:sp>
        <p:nvSpPr>
          <p:cNvPr id="87" name="Google Shape;87;p6"/>
          <p:cNvSpPr txBox="1"/>
          <p:nvPr/>
        </p:nvSpPr>
        <p:spPr>
          <a:xfrm>
            <a:off x="777240" y="5385816"/>
            <a:ext cx="48462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300"/>
              <a:buFont typeface="Arial"/>
              <a:buNone/>
            </a:pPr>
            <a:r>
              <a:rPr lang="en-US" sz="1300">
                <a:solidFill>
                  <a:srgbClr val="1A2943"/>
                </a:solidFill>
              </a:rPr>
              <a:t>A result has a scope and limitations</a:t>
            </a:r>
            <a:endParaRPr sz="1300" cap="none">
              <a:solidFill>
                <a:srgbClr val="1A2943"/>
              </a:solidFill>
            </a:endParaRPr>
          </a:p>
        </p:txBody>
      </p:sp>
      <p:sp>
        <p:nvSpPr>
          <p:cNvPr id="88" name="Google Shape;88;p6"/>
          <p:cNvSpPr/>
          <p:nvPr/>
        </p:nvSpPr>
        <p:spPr>
          <a:xfrm>
            <a:off x="5989320" y="5221224"/>
            <a:ext cx="457200" cy="347400"/>
          </a:xfrm>
          <a:prstGeom prst="rightArrow">
            <a:avLst>
              <a:gd fmla="val 50000" name="adj1"/>
              <a:gd fmla="val 50000" name="adj2"/>
            </a:avLst>
          </a:prstGeom>
          <a:solidFill>
            <a:srgbClr val="C01E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6"/>
          <p:cNvSpPr/>
          <p:nvPr/>
        </p:nvSpPr>
        <p:spPr>
          <a:xfrm>
            <a:off x="6537960" y="4837176"/>
            <a:ext cx="5166300" cy="1115700"/>
          </a:xfrm>
          <a:prstGeom prst="roundRect">
            <a:avLst>
              <a:gd fmla="val 4918" name="adj"/>
            </a:avLst>
          </a:prstGeom>
          <a:solidFill>
            <a:srgbClr val="000B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txBox="1"/>
          <p:nvPr/>
        </p:nvSpPr>
        <p:spPr>
          <a:xfrm>
            <a:off x="6812280" y="5093208"/>
            <a:ext cx="4617600" cy="685800"/>
          </a:xfrm>
          <a:prstGeom prst="rect">
            <a:avLst/>
          </a:prstGeom>
          <a:noFill/>
          <a:ln>
            <a:noFill/>
          </a:ln>
        </p:spPr>
        <p:txBody>
          <a:bodyPr anchorCtr="0" anchor="ctr" bIns="0" lIns="0" spcFirstLastPara="1" rIns="0" wrap="square" tIns="0">
            <a:noAutofit/>
          </a:bodyPr>
          <a:lstStyle/>
          <a:p>
            <a:pPr indent="0" lvl="0" marL="0" marR="0" rtl="0" algn="l">
              <a:lnSpc>
                <a:spcPct val="135714"/>
              </a:lnSpc>
              <a:spcBef>
                <a:spcPts val="0"/>
              </a:spcBef>
              <a:spcAft>
                <a:spcPts val="0"/>
              </a:spcAft>
              <a:buClr>
                <a:srgbClr val="FFFFFF"/>
              </a:buClr>
              <a:buSzPts val="1400"/>
              <a:buFont typeface="Arial"/>
              <a:buNone/>
            </a:pPr>
            <a:r>
              <a:rPr lang="en-US">
                <a:solidFill>
                  <a:srgbClr val="FFFFFF"/>
                </a:solidFill>
              </a:rPr>
              <a:t>Raw receipts tied to a source identity</a:t>
            </a:r>
            <a:endParaRPr cap="none">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 name="Shape 95"/>
        <p:cNvGrpSpPr/>
        <p:nvPr/>
      </p:nvGrpSpPr>
      <p:grpSpPr>
        <a:xfrm>
          <a:off x="0" y="0"/>
          <a:ext cx="0" cy="0"/>
          <a:chOff x="0" y="0"/>
          <a:chExt cx="0" cy="0"/>
        </a:xfrm>
      </p:grpSpPr>
      <p:sp>
        <p:nvSpPr>
          <p:cNvPr id="96" name="Google Shape;96;p7"/>
          <p:cNvSpPr txBox="1"/>
          <p:nvPr/>
        </p:nvSpPr>
        <p:spPr>
          <a:xfrm>
            <a:off x="502920" y="6473952"/>
            <a:ext cx="6400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5"/>
              </a:buClr>
              <a:buSzPts val="900"/>
              <a:buFont typeface="Arial"/>
              <a:buNone/>
            </a:pPr>
            <a:r>
              <a:rPr lang="en-US" sz="900">
                <a:solidFill>
                  <a:srgbClr val="5A6B85"/>
                </a:solidFill>
              </a:rPr>
              <a:t>ATD 2026 · Completion Theater Hackathon</a:t>
            </a:r>
            <a:endParaRPr sz="900" cap="none">
              <a:solidFill>
                <a:srgbClr val="5A6B85"/>
              </a:solidFill>
            </a:endParaRPr>
          </a:p>
        </p:txBody>
      </p:sp>
      <p:sp>
        <p:nvSpPr>
          <p:cNvPr id="97" name="Google Shape;97;p7"/>
          <p:cNvSpPr txBox="1"/>
          <p:nvPr/>
        </p:nvSpPr>
        <p:spPr>
          <a:xfrm>
            <a:off x="11231575" y="647395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5"/>
              </a:buClr>
              <a:buSzPts val="900"/>
              <a:buFont typeface="Arial"/>
              <a:buNone/>
            </a:pPr>
            <a:r>
              <a:rPr lang="en-US" sz="900">
                <a:solidFill>
                  <a:srgbClr val="5A6B85"/>
                </a:solidFill>
              </a:rPr>
              <a:t>5</a:t>
            </a:r>
            <a:endParaRPr sz="900" cap="none">
              <a:solidFill>
                <a:srgbClr val="5A6B85"/>
              </a:solidFill>
            </a:endParaRPr>
          </a:p>
        </p:txBody>
      </p:sp>
      <p:sp>
        <p:nvSpPr>
          <p:cNvPr id="98" name="Google Shape;98;p7"/>
          <p:cNvSpPr txBox="1"/>
          <p:nvPr/>
        </p:nvSpPr>
        <p:spPr>
          <a:xfrm>
            <a:off x="502920" y="384048"/>
            <a:ext cx="111558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1200"/>
              <a:buFont typeface="Arial"/>
              <a:buNone/>
            </a:pPr>
            <a:r>
              <a:rPr b="1" lang="en-US" sz="1200">
                <a:solidFill>
                  <a:srgbClr val="C01E4B"/>
                </a:solidFill>
              </a:rPr>
              <a:t>18 NOVEMBER 2026, POTSDAM LOCAL TIME</a:t>
            </a:r>
            <a:endParaRPr b="1" sz="1200" cap="none">
              <a:solidFill>
                <a:srgbClr val="C01E4B"/>
              </a:solidFill>
            </a:endParaRPr>
          </a:p>
        </p:txBody>
      </p:sp>
      <p:sp>
        <p:nvSpPr>
          <p:cNvPr id="99" name="Google Shape;99;p7"/>
          <p:cNvSpPr txBox="1"/>
          <p:nvPr/>
        </p:nvSpPr>
        <p:spPr>
          <a:xfrm>
            <a:off x="502920" y="676656"/>
            <a:ext cx="111558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3000"/>
              <a:buFont typeface="Arial"/>
              <a:buNone/>
            </a:pPr>
            <a:r>
              <a:rPr b="1" lang="en-US" sz="3000">
                <a:solidFill>
                  <a:srgbClr val="000B60"/>
                </a:solidFill>
              </a:rPr>
              <a:t>Tonight's three-hour schedule</a:t>
            </a:r>
            <a:endParaRPr b="1" sz="3000" cap="none">
              <a:solidFill>
                <a:srgbClr val="000B60"/>
              </a:solidFill>
            </a:endParaRPr>
          </a:p>
        </p:txBody>
      </p:sp>
      <p:sp>
        <p:nvSpPr>
          <p:cNvPr id="100" name="Google Shape;100;p7"/>
          <p:cNvSpPr/>
          <p:nvPr/>
        </p:nvSpPr>
        <p:spPr>
          <a:xfrm>
            <a:off x="502920" y="1783080"/>
            <a:ext cx="11201400" cy="713100"/>
          </a:xfrm>
          <a:prstGeom prst="roundRect">
            <a:avLst>
              <a:gd fmla="val 6410"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7"/>
          <p:cNvSpPr txBox="1"/>
          <p:nvPr/>
        </p:nvSpPr>
        <p:spPr>
          <a:xfrm>
            <a:off x="777240" y="1911096"/>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01</a:t>
            </a:r>
            <a:endParaRPr b="1" sz="2000" cap="none">
              <a:solidFill>
                <a:srgbClr val="C01E4B"/>
              </a:solidFill>
            </a:endParaRPr>
          </a:p>
        </p:txBody>
      </p:sp>
      <p:sp>
        <p:nvSpPr>
          <p:cNvPr id="102" name="Google Shape;102;p7"/>
          <p:cNvSpPr txBox="1"/>
          <p:nvPr/>
        </p:nvSpPr>
        <p:spPr>
          <a:xfrm>
            <a:off x="1508760" y="1956816"/>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20:15 OPEN + PLAN</a:t>
            </a:r>
            <a:endParaRPr b="1" sz="1600" cap="none">
              <a:solidFill>
                <a:srgbClr val="000B60"/>
              </a:solidFill>
            </a:endParaRPr>
          </a:p>
        </p:txBody>
      </p:sp>
      <p:sp>
        <p:nvSpPr>
          <p:cNvPr id="103" name="Google Shape;103;p7"/>
          <p:cNvSpPr txBox="1"/>
          <p:nvPr/>
        </p:nvSpPr>
        <p:spPr>
          <a:xfrm>
            <a:off x="4892040" y="1965960"/>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15-minute opening, then 10-minute team planning.</a:t>
            </a:r>
            <a:endParaRPr cap="none">
              <a:solidFill>
                <a:srgbClr val="1A2943"/>
              </a:solidFill>
            </a:endParaRPr>
          </a:p>
        </p:txBody>
      </p:sp>
      <p:sp>
        <p:nvSpPr>
          <p:cNvPr id="104" name="Google Shape;104;p7"/>
          <p:cNvSpPr/>
          <p:nvPr/>
        </p:nvSpPr>
        <p:spPr>
          <a:xfrm>
            <a:off x="502920" y="2624328"/>
            <a:ext cx="11201400" cy="713100"/>
          </a:xfrm>
          <a:prstGeom prst="roundRect">
            <a:avLst>
              <a:gd fmla="val 641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7"/>
          <p:cNvSpPr txBox="1"/>
          <p:nvPr/>
        </p:nvSpPr>
        <p:spPr>
          <a:xfrm>
            <a:off x="777240" y="2752344"/>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02</a:t>
            </a:r>
            <a:endParaRPr b="1" sz="2000" cap="none">
              <a:solidFill>
                <a:srgbClr val="C01E4B"/>
              </a:solidFill>
            </a:endParaRPr>
          </a:p>
        </p:txBody>
      </p:sp>
      <p:sp>
        <p:nvSpPr>
          <p:cNvPr id="106" name="Google Shape;106;p7"/>
          <p:cNvSpPr txBox="1"/>
          <p:nvPr/>
        </p:nvSpPr>
        <p:spPr>
          <a:xfrm>
            <a:off x="1508760" y="2798064"/>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20:40 BUILD</a:t>
            </a:r>
            <a:endParaRPr b="1" sz="1600" cap="none">
              <a:solidFill>
                <a:srgbClr val="000B60"/>
              </a:solidFill>
            </a:endParaRPr>
          </a:p>
        </p:txBody>
      </p:sp>
      <p:sp>
        <p:nvSpPr>
          <p:cNvPr id="107" name="Google Shape;107;p7"/>
          <p:cNvSpPr txBox="1"/>
          <p:nvPr/>
        </p:nvSpPr>
        <p:spPr>
          <a:xfrm>
            <a:off x="4892040" y="2807208"/>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60 minutes. Stop adding features at 21:40.</a:t>
            </a:r>
            <a:endParaRPr cap="none">
              <a:solidFill>
                <a:srgbClr val="1A2943"/>
              </a:solidFill>
            </a:endParaRPr>
          </a:p>
        </p:txBody>
      </p:sp>
      <p:sp>
        <p:nvSpPr>
          <p:cNvPr id="108" name="Google Shape;108;p7"/>
          <p:cNvSpPr/>
          <p:nvPr/>
        </p:nvSpPr>
        <p:spPr>
          <a:xfrm>
            <a:off x="502920" y="3465576"/>
            <a:ext cx="11201400" cy="713100"/>
          </a:xfrm>
          <a:prstGeom prst="roundRect">
            <a:avLst>
              <a:gd fmla="val 6410"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7"/>
          <p:cNvSpPr txBox="1"/>
          <p:nvPr/>
        </p:nvSpPr>
        <p:spPr>
          <a:xfrm>
            <a:off x="777240" y="3593592"/>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03</a:t>
            </a:r>
            <a:endParaRPr b="1" sz="2000" cap="none">
              <a:solidFill>
                <a:srgbClr val="C01E4B"/>
              </a:solidFill>
            </a:endParaRPr>
          </a:p>
        </p:txBody>
      </p:sp>
      <p:sp>
        <p:nvSpPr>
          <p:cNvPr id="110" name="Google Shape;110;p7"/>
          <p:cNvSpPr txBox="1"/>
          <p:nvPr/>
        </p:nvSpPr>
        <p:spPr>
          <a:xfrm>
            <a:off x="1508760" y="3639312"/>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21:40 VERIFY</a:t>
            </a:r>
            <a:endParaRPr b="1" sz="1600" cap="none">
              <a:solidFill>
                <a:srgbClr val="000B60"/>
              </a:solidFill>
            </a:endParaRPr>
          </a:p>
        </p:txBody>
      </p:sp>
      <p:sp>
        <p:nvSpPr>
          <p:cNvPr id="111" name="Google Shape;111;p7"/>
          <p:cNvSpPr txBox="1"/>
          <p:nvPr/>
        </p:nvSpPr>
        <p:spPr>
          <a:xfrm>
            <a:off x="4892040" y="3648456"/>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20 minutes. Source freeze 21:55. Handoff at 22:00.</a:t>
            </a:r>
            <a:endParaRPr cap="none">
              <a:solidFill>
                <a:srgbClr val="1A2943"/>
              </a:solidFill>
            </a:endParaRPr>
          </a:p>
        </p:txBody>
      </p:sp>
      <p:sp>
        <p:nvSpPr>
          <p:cNvPr id="112" name="Google Shape;112;p7"/>
          <p:cNvSpPr/>
          <p:nvPr/>
        </p:nvSpPr>
        <p:spPr>
          <a:xfrm>
            <a:off x="502920" y="4306824"/>
            <a:ext cx="11201400" cy="713100"/>
          </a:xfrm>
          <a:prstGeom prst="roundRect">
            <a:avLst>
              <a:gd fmla="val 641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7"/>
          <p:cNvSpPr txBox="1"/>
          <p:nvPr/>
        </p:nvSpPr>
        <p:spPr>
          <a:xfrm>
            <a:off x="777240" y="4434840"/>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04</a:t>
            </a:r>
            <a:endParaRPr b="1" sz="2000" cap="none">
              <a:solidFill>
                <a:srgbClr val="C01E4B"/>
              </a:solidFill>
            </a:endParaRPr>
          </a:p>
        </p:txBody>
      </p:sp>
      <p:sp>
        <p:nvSpPr>
          <p:cNvPr id="114" name="Google Shape;114;p7"/>
          <p:cNvSpPr txBox="1"/>
          <p:nvPr/>
        </p:nvSpPr>
        <p:spPr>
          <a:xfrm>
            <a:off x="1508760" y="4480560"/>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22:05 CROSS-AUDIT</a:t>
            </a:r>
            <a:endParaRPr b="1" sz="1600" cap="none">
              <a:solidFill>
                <a:srgbClr val="000B60"/>
              </a:solidFill>
            </a:endParaRPr>
          </a:p>
        </p:txBody>
      </p:sp>
      <p:sp>
        <p:nvSpPr>
          <p:cNvPr id="115" name="Google Shape;115;p7"/>
          <p:cNvSpPr txBox="1"/>
          <p:nvPr/>
        </p:nvSpPr>
        <p:spPr>
          <a:xfrm>
            <a:off x="4892040" y="4489704"/>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35 minutes, after the five-minute break and handoff.</a:t>
            </a:r>
            <a:endParaRPr cap="none">
              <a:solidFill>
                <a:srgbClr val="1A2943"/>
              </a:solidFill>
            </a:endParaRPr>
          </a:p>
        </p:txBody>
      </p:sp>
      <p:sp>
        <p:nvSpPr>
          <p:cNvPr id="116" name="Google Shape;116;p7"/>
          <p:cNvSpPr/>
          <p:nvPr/>
        </p:nvSpPr>
        <p:spPr>
          <a:xfrm>
            <a:off x="502920" y="5148072"/>
            <a:ext cx="11201400" cy="713100"/>
          </a:xfrm>
          <a:prstGeom prst="roundRect">
            <a:avLst>
              <a:gd fmla="val 6410"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
          <p:cNvSpPr txBox="1"/>
          <p:nvPr/>
        </p:nvSpPr>
        <p:spPr>
          <a:xfrm>
            <a:off x="777240" y="5276088"/>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05</a:t>
            </a:r>
            <a:endParaRPr b="1" sz="2000" cap="none">
              <a:solidFill>
                <a:srgbClr val="C01E4B"/>
              </a:solidFill>
            </a:endParaRPr>
          </a:p>
        </p:txBody>
      </p:sp>
      <p:sp>
        <p:nvSpPr>
          <p:cNvPr id="118" name="Google Shape;118;p7"/>
          <p:cNvSpPr txBox="1"/>
          <p:nvPr/>
        </p:nvSpPr>
        <p:spPr>
          <a:xfrm>
            <a:off x="1508760" y="5321808"/>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22:40 SHOW + LEARN</a:t>
            </a:r>
            <a:endParaRPr b="1" sz="1600" cap="none">
              <a:solidFill>
                <a:srgbClr val="000B60"/>
              </a:solidFill>
            </a:endParaRPr>
          </a:p>
        </p:txBody>
      </p:sp>
      <p:sp>
        <p:nvSpPr>
          <p:cNvPr id="119" name="Google Shape;119;p7"/>
          <p:cNvSpPr txBox="1"/>
          <p:nvPr/>
        </p:nvSpPr>
        <p:spPr>
          <a:xfrm>
            <a:off x="4892040" y="5330952"/>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Demos 20 min, scoring and lessons 10 min, close 5 min.</a:t>
            </a:r>
            <a:endParaRPr cap="none">
              <a:solidFill>
                <a:srgbClr val="1A2943"/>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sp>
        <p:nvSpPr>
          <p:cNvPr id="125" name="Google Shape;125;p8"/>
          <p:cNvSpPr txBox="1"/>
          <p:nvPr/>
        </p:nvSpPr>
        <p:spPr>
          <a:xfrm>
            <a:off x="502920" y="6473952"/>
            <a:ext cx="6400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5"/>
              </a:buClr>
              <a:buSzPts val="900"/>
              <a:buFont typeface="Arial"/>
              <a:buNone/>
            </a:pPr>
            <a:r>
              <a:rPr lang="en-US" sz="900">
                <a:solidFill>
                  <a:srgbClr val="5A6B85"/>
                </a:solidFill>
              </a:rPr>
              <a:t>ATD 2026 · Completion Theater Hackathon</a:t>
            </a:r>
            <a:endParaRPr sz="900" cap="none">
              <a:solidFill>
                <a:srgbClr val="5A6B85"/>
              </a:solidFill>
            </a:endParaRPr>
          </a:p>
        </p:txBody>
      </p:sp>
      <p:sp>
        <p:nvSpPr>
          <p:cNvPr id="126" name="Google Shape;126;p8"/>
          <p:cNvSpPr txBox="1"/>
          <p:nvPr/>
        </p:nvSpPr>
        <p:spPr>
          <a:xfrm>
            <a:off x="11231575" y="647395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5"/>
              </a:buClr>
              <a:buSzPts val="900"/>
              <a:buFont typeface="Arial"/>
              <a:buNone/>
            </a:pPr>
            <a:r>
              <a:rPr lang="en-US" sz="900">
                <a:solidFill>
                  <a:srgbClr val="5A6B85"/>
                </a:solidFill>
              </a:rPr>
              <a:t>6</a:t>
            </a:r>
            <a:endParaRPr sz="900" cap="none">
              <a:solidFill>
                <a:srgbClr val="5A6B85"/>
              </a:solidFill>
            </a:endParaRPr>
          </a:p>
        </p:txBody>
      </p:sp>
      <p:sp>
        <p:nvSpPr>
          <p:cNvPr id="127" name="Google Shape;127;p8"/>
          <p:cNvSpPr txBox="1"/>
          <p:nvPr/>
        </p:nvSpPr>
        <p:spPr>
          <a:xfrm>
            <a:off x="502920" y="384048"/>
            <a:ext cx="111558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1200"/>
              <a:buFont typeface="Arial"/>
              <a:buNone/>
            </a:pPr>
            <a:r>
              <a:rPr b="1" lang="en-US" sz="1200">
                <a:solidFill>
                  <a:srgbClr val="C01E4B"/>
                </a:solidFill>
              </a:rPr>
              <a:t>TEAM PLANNING, 20:30–20:40</a:t>
            </a:r>
            <a:endParaRPr b="1" sz="1200" cap="none">
              <a:solidFill>
                <a:srgbClr val="C01E4B"/>
              </a:solidFill>
            </a:endParaRPr>
          </a:p>
        </p:txBody>
      </p:sp>
      <p:sp>
        <p:nvSpPr>
          <p:cNvPr id="128" name="Google Shape;128;p8"/>
          <p:cNvSpPr txBox="1"/>
          <p:nvPr/>
        </p:nvSpPr>
        <p:spPr>
          <a:xfrm>
            <a:off x="502920" y="676656"/>
            <a:ext cx="111558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3000"/>
              <a:buFont typeface="Arial"/>
              <a:buNone/>
            </a:pPr>
            <a:r>
              <a:rPr b="1" lang="en-US" sz="3000">
                <a:solidFill>
                  <a:srgbClr val="000B60"/>
                </a:solidFill>
              </a:rPr>
              <a:t>Session Seat Desk</a:t>
            </a:r>
            <a:endParaRPr b="1" sz="3000" cap="none">
              <a:solidFill>
                <a:srgbClr val="000B60"/>
              </a:solidFill>
            </a:endParaRPr>
          </a:p>
        </p:txBody>
      </p:sp>
      <p:sp>
        <p:nvSpPr>
          <p:cNvPr id="129" name="Google Shape;129;p8"/>
          <p:cNvSpPr/>
          <p:nvPr/>
        </p:nvSpPr>
        <p:spPr>
          <a:xfrm>
            <a:off x="502920" y="1783080"/>
            <a:ext cx="11201400" cy="713100"/>
          </a:xfrm>
          <a:prstGeom prst="roundRect">
            <a:avLst>
              <a:gd fmla="val 6410"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
          <p:cNvSpPr txBox="1"/>
          <p:nvPr/>
        </p:nvSpPr>
        <p:spPr>
          <a:xfrm>
            <a:off x="777240" y="1911096"/>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01</a:t>
            </a:r>
            <a:endParaRPr b="1" sz="2000" cap="none">
              <a:solidFill>
                <a:srgbClr val="C01E4B"/>
              </a:solidFill>
            </a:endParaRPr>
          </a:p>
        </p:txBody>
      </p:sp>
      <p:sp>
        <p:nvSpPr>
          <p:cNvPr id="131" name="Google Shape;131;p8"/>
          <p:cNvSpPr txBox="1"/>
          <p:nvPr/>
        </p:nvSpPr>
        <p:spPr>
          <a:xfrm>
            <a:off x="1508760" y="1956816"/>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RUN LOCALLY</a:t>
            </a:r>
            <a:endParaRPr b="1" sz="1600" cap="none">
              <a:solidFill>
                <a:srgbClr val="000B60"/>
              </a:solidFill>
            </a:endParaRPr>
          </a:p>
        </p:txBody>
      </p:sp>
      <p:sp>
        <p:nvSpPr>
          <p:cNvPr id="132" name="Google Shape;132;p8"/>
          <p:cNvSpPr txBox="1"/>
          <p:nvPr/>
        </p:nvSpPr>
        <p:spPr>
          <a:xfrm>
            <a:off x="4892040" y="1965960"/>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A basic UI and JSON API. No judge's paid account.</a:t>
            </a:r>
            <a:endParaRPr cap="none">
              <a:solidFill>
                <a:srgbClr val="1A2943"/>
              </a:solidFill>
            </a:endParaRPr>
          </a:p>
        </p:txBody>
      </p:sp>
      <p:sp>
        <p:nvSpPr>
          <p:cNvPr id="133" name="Google Shape;133;p8"/>
          <p:cNvSpPr/>
          <p:nvPr/>
        </p:nvSpPr>
        <p:spPr>
          <a:xfrm>
            <a:off x="502920" y="2624328"/>
            <a:ext cx="11201400" cy="713100"/>
          </a:xfrm>
          <a:prstGeom prst="roundRect">
            <a:avLst>
              <a:gd fmla="val 641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
          <p:cNvSpPr txBox="1"/>
          <p:nvPr/>
        </p:nvSpPr>
        <p:spPr>
          <a:xfrm>
            <a:off x="777240" y="2752344"/>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02</a:t>
            </a:r>
            <a:endParaRPr b="1" sz="2000" cap="none">
              <a:solidFill>
                <a:srgbClr val="C01E4B"/>
              </a:solidFill>
            </a:endParaRPr>
          </a:p>
        </p:txBody>
      </p:sp>
      <p:sp>
        <p:nvSpPr>
          <p:cNvPr id="135" name="Google Shape;135;p8"/>
          <p:cNvSpPr txBox="1"/>
          <p:nvPr/>
        </p:nvSpPr>
        <p:spPr>
          <a:xfrm>
            <a:off x="1508760" y="2798064"/>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PERSIST STATE</a:t>
            </a:r>
            <a:endParaRPr b="1" sz="1600" cap="none">
              <a:solidFill>
                <a:srgbClr val="000B60"/>
              </a:solidFill>
            </a:endParaRPr>
          </a:p>
        </p:txBody>
      </p:sp>
      <p:sp>
        <p:nvSpPr>
          <p:cNvPr id="136" name="Google Shape;136;p8"/>
          <p:cNvSpPr txBox="1"/>
          <p:nvPr/>
        </p:nvSpPr>
        <p:spPr>
          <a:xfrm>
            <a:off x="4892040" y="2807208"/>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CT-101 has 2 seats. CT-102 has 3. Reset is explicit.</a:t>
            </a:r>
            <a:endParaRPr cap="none">
              <a:solidFill>
                <a:srgbClr val="1A2943"/>
              </a:solidFill>
            </a:endParaRPr>
          </a:p>
        </p:txBody>
      </p:sp>
      <p:sp>
        <p:nvSpPr>
          <p:cNvPr id="137" name="Google Shape;137;p8"/>
          <p:cNvSpPr/>
          <p:nvPr/>
        </p:nvSpPr>
        <p:spPr>
          <a:xfrm>
            <a:off x="502920" y="3465576"/>
            <a:ext cx="11201400" cy="713100"/>
          </a:xfrm>
          <a:prstGeom prst="roundRect">
            <a:avLst>
              <a:gd fmla="val 6410"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
          <p:cNvSpPr txBox="1"/>
          <p:nvPr/>
        </p:nvSpPr>
        <p:spPr>
          <a:xfrm>
            <a:off x="777240" y="3593592"/>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03</a:t>
            </a:r>
            <a:endParaRPr b="1" sz="2000" cap="none">
              <a:solidFill>
                <a:srgbClr val="C01E4B"/>
              </a:solidFill>
            </a:endParaRPr>
          </a:p>
        </p:txBody>
      </p:sp>
      <p:sp>
        <p:nvSpPr>
          <p:cNvPr id="139" name="Google Shape;139;p8"/>
          <p:cNvSpPr txBox="1"/>
          <p:nvPr/>
        </p:nvSpPr>
        <p:spPr>
          <a:xfrm>
            <a:off x="1508760" y="3639312"/>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RESERVE + CANCEL</a:t>
            </a:r>
            <a:endParaRPr b="1" sz="1600" cap="none">
              <a:solidFill>
                <a:srgbClr val="000B60"/>
              </a:solidFill>
            </a:endParaRPr>
          </a:p>
        </p:txBody>
      </p:sp>
      <p:sp>
        <p:nvSpPr>
          <p:cNvPr id="140" name="Google Shape;140;p8"/>
          <p:cNvSpPr txBox="1"/>
          <p:nvPr/>
        </p:nvSpPr>
        <p:spPr>
          <a:xfrm>
            <a:off x="4892040" y="3648456"/>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Create, replay and cancel a reservation.</a:t>
            </a:r>
            <a:endParaRPr cap="none">
              <a:solidFill>
                <a:srgbClr val="1A2943"/>
              </a:solidFill>
            </a:endParaRPr>
          </a:p>
        </p:txBody>
      </p:sp>
      <p:sp>
        <p:nvSpPr>
          <p:cNvPr id="141" name="Google Shape;141;p8"/>
          <p:cNvSpPr/>
          <p:nvPr/>
        </p:nvSpPr>
        <p:spPr>
          <a:xfrm>
            <a:off x="502920" y="4306824"/>
            <a:ext cx="11201400" cy="713100"/>
          </a:xfrm>
          <a:prstGeom prst="roundRect">
            <a:avLst>
              <a:gd fmla="val 641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txBox="1"/>
          <p:nvPr/>
        </p:nvSpPr>
        <p:spPr>
          <a:xfrm>
            <a:off x="777240" y="4434840"/>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04</a:t>
            </a:r>
            <a:endParaRPr b="1" sz="2000" cap="none">
              <a:solidFill>
                <a:srgbClr val="C01E4B"/>
              </a:solidFill>
            </a:endParaRPr>
          </a:p>
        </p:txBody>
      </p:sp>
      <p:sp>
        <p:nvSpPr>
          <p:cNvPr id="143" name="Google Shape;143;p8"/>
          <p:cNvSpPr txBox="1"/>
          <p:nvPr/>
        </p:nvSpPr>
        <p:spPr>
          <a:xfrm>
            <a:off x="1508760" y="4480560"/>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HOLD THE RULES</a:t>
            </a:r>
            <a:endParaRPr b="1" sz="1600" cap="none">
              <a:solidFill>
                <a:srgbClr val="000B60"/>
              </a:solidFill>
            </a:endParaRPr>
          </a:p>
        </p:txBody>
      </p:sp>
      <p:sp>
        <p:nvSpPr>
          <p:cNvPr id="144" name="Google Shape;144;p8"/>
          <p:cNvSpPr txBox="1"/>
          <p:nvPr/>
        </p:nvSpPr>
        <p:spPr>
          <a:xfrm>
            <a:off x="4892040" y="4489704"/>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No overselling or duplicate request side effects.</a:t>
            </a:r>
            <a:endParaRPr cap="none">
              <a:solidFill>
                <a:srgbClr val="1A2943"/>
              </a:solidFill>
            </a:endParaRPr>
          </a:p>
        </p:txBody>
      </p:sp>
      <p:sp>
        <p:nvSpPr>
          <p:cNvPr id="145" name="Google Shape;145;p8"/>
          <p:cNvSpPr/>
          <p:nvPr/>
        </p:nvSpPr>
        <p:spPr>
          <a:xfrm>
            <a:off x="502920" y="5148072"/>
            <a:ext cx="11201400" cy="713100"/>
          </a:xfrm>
          <a:prstGeom prst="roundRect">
            <a:avLst>
              <a:gd fmla="val 6410"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txBox="1"/>
          <p:nvPr/>
        </p:nvSpPr>
        <p:spPr>
          <a:xfrm>
            <a:off x="777240" y="5276088"/>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05</a:t>
            </a:r>
            <a:endParaRPr b="1" sz="2000" cap="none">
              <a:solidFill>
                <a:srgbClr val="C01E4B"/>
              </a:solidFill>
            </a:endParaRPr>
          </a:p>
        </p:txBody>
      </p:sp>
      <p:sp>
        <p:nvSpPr>
          <p:cNvPr id="147" name="Google Shape;147;p8"/>
          <p:cNvSpPr txBox="1"/>
          <p:nvPr/>
        </p:nvSpPr>
        <p:spPr>
          <a:xfrm>
            <a:off x="1508760" y="5321808"/>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SHOW THE EVIDENCE</a:t>
            </a:r>
            <a:endParaRPr b="1" sz="1600" cap="none">
              <a:solidFill>
                <a:srgbClr val="000B60"/>
              </a:solidFill>
            </a:endParaRPr>
          </a:p>
        </p:txBody>
      </p:sp>
      <p:sp>
        <p:nvSpPr>
          <p:cNvPr id="148" name="Google Shape;148;p8"/>
          <p:cNvSpPr txBox="1"/>
          <p:nvPr/>
        </p:nvSpPr>
        <p:spPr>
          <a:xfrm>
            <a:off x="4892040" y="5330952"/>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Cold start, invalid input, concurrency and real restart.</a:t>
            </a:r>
            <a:endParaRPr cap="none">
              <a:solidFill>
                <a:srgbClr val="1A2943"/>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 name="Shape 153"/>
        <p:cNvGrpSpPr/>
        <p:nvPr/>
      </p:nvGrpSpPr>
      <p:grpSpPr>
        <a:xfrm>
          <a:off x="0" y="0"/>
          <a:ext cx="0" cy="0"/>
          <a:chOff x="0" y="0"/>
          <a:chExt cx="0" cy="0"/>
        </a:xfrm>
      </p:grpSpPr>
      <p:sp>
        <p:nvSpPr>
          <p:cNvPr id="154" name="Google Shape;154;p9"/>
          <p:cNvSpPr txBox="1"/>
          <p:nvPr/>
        </p:nvSpPr>
        <p:spPr>
          <a:xfrm>
            <a:off x="502920" y="6473952"/>
            <a:ext cx="6400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5"/>
              </a:buClr>
              <a:buSzPts val="900"/>
              <a:buFont typeface="Arial"/>
              <a:buNone/>
            </a:pPr>
            <a:r>
              <a:rPr lang="en-US" sz="900">
                <a:solidFill>
                  <a:srgbClr val="5A6B85"/>
                </a:solidFill>
              </a:rPr>
              <a:t>ATD 2026 · Completion Theater Hackathon</a:t>
            </a:r>
            <a:endParaRPr sz="900" cap="none">
              <a:solidFill>
                <a:srgbClr val="5A6B85"/>
              </a:solidFill>
            </a:endParaRPr>
          </a:p>
        </p:txBody>
      </p:sp>
      <p:sp>
        <p:nvSpPr>
          <p:cNvPr id="155" name="Google Shape;155;p9"/>
          <p:cNvSpPr txBox="1"/>
          <p:nvPr/>
        </p:nvSpPr>
        <p:spPr>
          <a:xfrm>
            <a:off x="11231575" y="647395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5"/>
              </a:buClr>
              <a:buSzPts val="900"/>
              <a:buFont typeface="Arial"/>
              <a:buNone/>
            </a:pPr>
            <a:r>
              <a:rPr lang="en-US" sz="900">
                <a:solidFill>
                  <a:srgbClr val="5A6B85"/>
                </a:solidFill>
              </a:rPr>
              <a:t>7</a:t>
            </a:r>
            <a:endParaRPr sz="900" cap="none">
              <a:solidFill>
                <a:srgbClr val="5A6B85"/>
              </a:solidFill>
            </a:endParaRPr>
          </a:p>
        </p:txBody>
      </p:sp>
      <p:sp>
        <p:nvSpPr>
          <p:cNvPr id="156" name="Google Shape;156;p9"/>
          <p:cNvSpPr txBox="1"/>
          <p:nvPr/>
        </p:nvSpPr>
        <p:spPr>
          <a:xfrm>
            <a:off x="502920" y="384048"/>
            <a:ext cx="111558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1200"/>
              <a:buFont typeface="Arial"/>
              <a:buNone/>
            </a:pPr>
            <a:r>
              <a:rPr b="1" lang="en-US" sz="1200">
                <a:solidFill>
                  <a:srgbClr val="C01E4B"/>
                </a:solidFill>
              </a:rPr>
              <a:t>READ THE FULL RUBRIC BEFORE BUILDING</a:t>
            </a:r>
            <a:endParaRPr b="1" sz="1200" cap="none">
              <a:solidFill>
                <a:srgbClr val="C01E4B"/>
              </a:solidFill>
            </a:endParaRPr>
          </a:p>
        </p:txBody>
      </p:sp>
      <p:sp>
        <p:nvSpPr>
          <p:cNvPr id="157" name="Google Shape;157;p9"/>
          <p:cNvSpPr txBox="1"/>
          <p:nvPr/>
        </p:nvSpPr>
        <p:spPr>
          <a:xfrm>
            <a:off x="502920" y="676656"/>
            <a:ext cx="111558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3000"/>
              <a:buFont typeface="Arial"/>
              <a:buNone/>
            </a:pPr>
            <a:r>
              <a:rPr b="1" lang="en-US" sz="3000">
                <a:solidFill>
                  <a:srgbClr val="000B60"/>
                </a:solidFill>
              </a:rPr>
              <a:t>100 points, earned with evidence</a:t>
            </a:r>
            <a:endParaRPr b="1" sz="3000" cap="none">
              <a:solidFill>
                <a:srgbClr val="000B60"/>
              </a:solidFill>
            </a:endParaRPr>
          </a:p>
        </p:txBody>
      </p:sp>
      <p:sp>
        <p:nvSpPr>
          <p:cNvPr id="158" name="Google Shape;158;p9"/>
          <p:cNvSpPr/>
          <p:nvPr/>
        </p:nvSpPr>
        <p:spPr>
          <a:xfrm>
            <a:off x="502920" y="1783080"/>
            <a:ext cx="11201400" cy="713100"/>
          </a:xfrm>
          <a:prstGeom prst="roundRect">
            <a:avLst>
              <a:gd fmla="val 6410"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9"/>
          <p:cNvSpPr txBox="1"/>
          <p:nvPr/>
        </p:nvSpPr>
        <p:spPr>
          <a:xfrm>
            <a:off x="777240" y="1911096"/>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40</a:t>
            </a:r>
            <a:endParaRPr b="1" sz="2000" cap="none">
              <a:solidFill>
                <a:srgbClr val="C01E4B"/>
              </a:solidFill>
            </a:endParaRPr>
          </a:p>
        </p:txBody>
      </p:sp>
      <p:sp>
        <p:nvSpPr>
          <p:cNvPr id="160" name="Google Shape;160;p9"/>
          <p:cNvSpPr txBox="1"/>
          <p:nvPr/>
        </p:nvSpPr>
        <p:spPr>
          <a:xfrm>
            <a:off x="1508760" y="1956816"/>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WORKING APP</a:t>
            </a:r>
            <a:endParaRPr b="1" sz="1600" cap="none">
              <a:solidFill>
                <a:srgbClr val="000B60"/>
              </a:solidFill>
            </a:endParaRPr>
          </a:p>
        </p:txBody>
      </p:sp>
      <p:sp>
        <p:nvSpPr>
          <p:cNvPr id="161" name="Google Shape;161;p9"/>
          <p:cNvSpPr txBox="1"/>
          <p:nvPr/>
        </p:nvSpPr>
        <p:spPr>
          <a:xfrm>
            <a:off x="4892040" y="1965960"/>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Eight acceptance criteria. Each is 0 or 5.</a:t>
            </a:r>
            <a:endParaRPr cap="none">
              <a:solidFill>
                <a:srgbClr val="1A2943"/>
              </a:solidFill>
            </a:endParaRPr>
          </a:p>
        </p:txBody>
      </p:sp>
      <p:sp>
        <p:nvSpPr>
          <p:cNvPr id="162" name="Google Shape;162;p9"/>
          <p:cNvSpPr/>
          <p:nvPr/>
        </p:nvSpPr>
        <p:spPr>
          <a:xfrm>
            <a:off x="502920" y="2624328"/>
            <a:ext cx="11201400" cy="713100"/>
          </a:xfrm>
          <a:prstGeom prst="roundRect">
            <a:avLst>
              <a:gd fmla="val 641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
          <p:cNvSpPr txBox="1"/>
          <p:nvPr/>
        </p:nvSpPr>
        <p:spPr>
          <a:xfrm>
            <a:off x="777240" y="2752344"/>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30</a:t>
            </a:r>
            <a:endParaRPr b="1" sz="2000" cap="none">
              <a:solidFill>
                <a:srgbClr val="C01E4B"/>
              </a:solidFill>
            </a:endParaRPr>
          </a:p>
        </p:txBody>
      </p:sp>
      <p:sp>
        <p:nvSpPr>
          <p:cNvPr id="164" name="Google Shape;164;p9"/>
          <p:cNvSpPr txBox="1"/>
          <p:nvPr/>
        </p:nvSpPr>
        <p:spPr>
          <a:xfrm>
            <a:off x="1508760" y="2798064"/>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EVIDENCE</a:t>
            </a:r>
            <a:endParaRPr b="1" sz="1600" cap="none">
              <a:solidFill>
                <a:srgbClr val="000B60"/>
              </a:solidFill>
            </a:endParaRPr>
          </a:p>
        </p:txBody>
      </p:sp>
      <p:sp>
        <p:nvSpPr>
          <p:cNvPr id="165" name="Google Shape;165;p9"/>
          <p:cNvSpPr txBox="1"/>
          <p:nvPr/>
        </p:nvSpPr>
        <p:spPr>
          <a:xfrm>
            <a:off x="4892040" y="2807208"/>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Six evidence criteria. Honest failures can earn credit.</a:t>
            </a:r>
            <a:endParaRPr cap="none">
              <a:solidFill>
                <a:srgbClr val="1A2943"/>
              </a:solidFill>
            </a:endParaRPr>
          </a:p>
        </p:txBody>
      </p:sp>
      <p:sp>
        <p:nvSpPr>
          <p:cNvPr id="166" name="Google Shape;166;p9"/>
          <p:cNvSpPr/>
          <p:nvPr/>
        </p:nvSpPr>
        <p:spPr>
          <a:xfrm>
            <a:off x="502920" y="3465576"/>
            <a:ext cx="11201400" cy="713100"/>
          </a:xfrm>
          <a:prstGeom prst="roundRect">
            <a:avLst>
              <a:gd fmla="val 6410"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9"/>
          <p:cNvSpPr txBox="1"/>
          <p:nvPr/>
        </p:nvSpPr>
        <p:spPr>
          <a:xfrm>
            <a:off x="777240" y="3593592"/>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20</a:t>
            </a:r>
            <a:endParaRPr b="1" sz="2000" cap="none">
              <a:solidFill>
                <a:srgbClr val="C01E4B"/>
              </a:solidFill>
            </a:endParaRPr>
          </a:p>
        </p:txBody>
      </p:sp>
      <p:sp>
        <p:nvSpPr>
          <p:cNvPr id="168" name="Google Shape;168;p9"/>
          <p:cNvSpPr txBox="1"/>
          <p:nvPr/>
        </p:nvSpPr>
        <p:spPr>
          <a:xfrm>
            <a:off x="1508760" y="3639312"/>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CROSS-AUDIT</a:t>
            </a:r>
            <a:endParaRPr b="1" sz="1600" cap="none">
              <a:solidFill>
                <a:srgbClr val="000B60"/>
              </a:solidFill>
            </a:endParaRPr>
          </a:p>
        </p:txBody>
      </p:sp>
      <p:sp>
        <p:nvSpPr>
          <p:cNvPr id="169" name="Google Shape;169;p9"/>
          <p:cNvSpPr txBox="1"/>
          <p:nvPr/>
        </p:nvSpPr>
        <p:spPr>
          <a:xfrm>
            <a:off x="4892040" y="3648456"/>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Four investigation criteria, not a bounty per bug.</a:t>
            </a:r>
            <a:endParaRPr cap="none">
              <a:solidFill>
                <a:srgbClr val="1A2943"/>
              </a:solidFill>
            </a:endParaRPr>
          </a:p>
        </p:txBody>
      </p:sp>
      <p:sp>
        <p:nvSpPr>
          <p:cNvPr id="170" name="Google Shape;170;p9"/>
          <p:cNvSpPr/>
          <p:nvPr/>
        </p:nvSpPr>
        <p:spPr>
          <a:xfrm>
            <a:off x="502920" y="4306824"/>
            <a:ext cx="11201400" cy="713100"/>
          </a:xfrm>
          <a:prstGeom prst="roundRect">
            <a:avLst>
              <a:gd fmla="val 641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9"/>
          <p:cNvSpPr txBox="1"/>
          <p:nvPr/>
        </p:nvSpPr>
        <p:spPr>
          <a:xfrm>
            <a:off x="777240" y="4434840"/>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10</a:t>
            </a:r>
            <a:endParaRPr b="1" sz="2000" cap="none">
              <a:solidFill>
                <a:srgbClr val="C01E4B"/>
              </a:solidFill>
            </a:endParaRPr>
          </a:p>
        </p:txBody>
      </p:sp>
      <p:sp>
        <p:nvSpPr>
          <p:cNvPr id="172" name="Google Shape;172;p9"/>
          <p:cNvSpPr txBox="1"/>
          <p:nvPr/>
        </p:nvSpPr>
        <p:spPr>
          <a:xfrm>
            <a:off x="1508760" y="4480560"/>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CREATIVITY</a:t>
            </a:r>
            <a:endParaRPr b="1" sz="1600" cap="none">
              <a:solidFill>
                <a:srgbClr val="000B60"/>
              </a:solidFill>
            </a:endParaRPr>
          </a:p>
        </p:txBody>
      </p:sp>
      <p:sp>
        <p:nvSpPr>
          <p:cNvPr id="173" name="Google Shape;173;p9"/>
          <p:cNvSpPr txBox="1"/>
          <p:nvPr/>
        </p:nvSpPr>
        <p:spPr>
          <a:xfrm>
            <a:off x="4892040" y="4489704"/>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A demonstrated improvement and an extra technique.</a:t>
            </a:r>
            <a:endParaRPr cap="none">
              <a:solidFill>
                <a:srgbClr val="1A2943"/>
              </a:solidFill>
            </a:endParaRPr>
          </a:p>
        </p:txBody>
      </p:sp>
      <p:sp>
        <p:nvSpPr>
          <p:cNvPr id="174" name="Google Shape;174;p9"/>
          <p:cNvSpPr/>
          <p:nvPr/>
        </p:nvSpPr>
        <p:spPr>
          <a:xfrm>
            <a:off x="502920" y="5148072"/>
            <a:ext cx="11201400" cy="713100"/>
          </a:xfrm>
          <a:prstGeom prst="roundRect">
            <a:avLst>
              <a:gd fmla="val 6410"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9"/>
          <p:cNvSpPr txBox="1"/>
          <p:nvPr/>
        </p:nvSpPr>
        <p:spPr>
          <a:xfrm>
            <a:off x="777240" y="5276088"/>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a:t>
            </a:r>
            <a:endParaRPr b="1" sz="2000" cap="none">
              <a:solidFill>
                <a:srgbClr val="C01E4B"/>
              </a:solidFill>
            </a:endParaRPr>
          </a:p>
        </p:txBody>
      </p:sp>
      <p:sp>
        <p:nvSpPr>
          <p:cNvPr id="176" name="Google Shape;176;p9"/>
          <p:cNvSpPr txBox="1"/>
          <p:nvPr/>
        </p:nvSpPr>
        <p:spPr>
          <a:xfrm>
            <a:off x="1508760" y="5321808"/>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TIES</a:t>
            </a:r>
            <a:endParaRPr b="1" sz="1600" cap="none">
              <a:solidFill>
                <a:srgbClr val="000B60"/>
              </a:solidFill>
            </a:endParaRPr>
          </a:p>
        </p:txBody>
      </p:sp>
      <p:sp>
        <p:nvSpPr>
          <p:cNvPr id="177" name="Google Shape;177;p9"/>
          <p:cNvSpPr txBox="1"/>
          <p:nvPr/>
        </p:nvSpPr>
        <p:spPr>
          <a:xfrm>
            <a:off x="4892040" y="5330952"/>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Evidence, then audit, then app. Still tied: share position.</a:t>
            </a:r>
            <a:endParaRPr cap="none">
              <a:solidFill>
                <a:srgbClr val="1A2943"/>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 name="Shape 182"/>
        <p:cNvGrpSpPr/>
        <p:nvPr/>
      </p:nvGrpSpPr>
      <p:grpSpPr>
        <a:xfrm>
          <a:off x="0" y="0"/>
          <a:ext cx="0" cy="0"/>
          <a:chOff x="0" y="0"/>
          <a:chExt cx="0" cy="0"/>
        </a:xfrm>
      </p:grpSpPr>
      <p:sp>
        <p:nvSpPr>
          <p:cNvPr id="183" name="Google Shape;183;p10"/>
          <p:cNvSpPr txBox="1"/>
          <p:nvPr/>
        </p:nvSpPr>
        <p:spPr>
          <a:xfrm>
            <a:off x="502920" y="6473952"/>
            <a:ext cx="6400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5"/>
              </a:buClr>
              <a:buSzPts val="900"/>
              <a:buFont typeface="Arial"/>
              <a:buNone/>
            </a:pPr>
            <a:r>
              <a:rPr lang="en-US" sz="900">
                <a:solidFill>
                  <a:srgbClr val="5A6B85"/>
                </a:solidFill>
              </a:rPr>
              <a:t>ATD 2026 · Completion Theater Hackathon</a:t>
            </a:r>
            <a:endParaRPr sz="900" cap="none">
              <a:solidFill>
                <a:srgbClr val="5A6B85"/>
              </a:solidFill>
            </a:endParaRPr>
          </a:p>
        </p:txBody>
      </p:sp>
      <p:sp>
        <p:nvSpPr>
          <p:cNvPr id="184" name="Google Shape;184;p10"/>
          <p:cNvSpPr txBox="1"/>
          <p:nvPr/>
        </p:nvSpPr>
        <p:spPr>
          <a:xfrm>
            <a:off x="11231575" y="647395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5"/>
              </a:buClr>
              <a:buSzPts val="900"/>
              <a:buFont typeface="Arial"/>
              <a:buNone/>
            </a:pPr>
            <a:r>
              <a:rPr lang="en-US" sz="900">
                <a:solidFill>
                  <a:srgbClr val="5A6B85"/>
                </a:solidFill>
              </a:rPr>
              <a:t>8</a:t>
            </a:r>
            <a:endParaRPr sz="900" cap="none">
              <a:solidFill>
                <a:srgbClr val="5A6B85"/>
              </a:solidFill>
            </a:endParaRPr>
          </a:p>
        </p:txBody>
      </p:sp>
      <p:sp>
        <p:nvSpPr>
          <p:cNvPr id="185" name="Google Shape;185;p10"/>
          <p:cNvSpPr txBox="1"/>
          <p:nvPr/>
        </p:nvSpPr>
        <p:spPr>
          <a:xfrm>
            <a:off x="502920" y="384048"/>
            <a:ext cx="111558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1200"/>
              <a:buFont typeface="Arial"/>
              <a:buNone/>
            </a:pPr>
            <a:r>
              <a:rPr b="1" lang="en-US" sz="1200">
                <a:solidFill>
                  <a:srgbClr val="C01E4B"/>
                </a:solidFill>
              </a:rPr>
              <a:t>20:40–21:40, 60 MINUTES</a:t>
            </a:r>
            <a:endParaRPr b="1" sz="1200" cap="none">
              <a:solidFill>
                <a:srgbClr val="C01E4B"/>
              </a:solidFill>
            </a:endParaRPr>
          </a:p>
        </p:txBody>
      </p:sp>
      <p:sp>
        <p:nvSpPr>
          <p:cNvPr id="186" name="Google Shape;186;p10"/>
          <p:cNvSpPr txBox="1"/>
          <p:nvPr/>
        </p:nvSpPr>
        <p:spPr>
          <a:xfrm>
            <a:off x="502920" y="676656"/>
            <a:ext cx="111558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3000"/>
              <a:buFont typeface="Arial"/>
              <a:buNone/>
            </a:pPr>
            <a:r>
              <a:rPr b="1" lang="en-US" sz="3000">
                <a:solidFill>
                  <a:srgbClr val="000B60"/>
                </a:solidFill>
              </a:rPr>
              <a:t>Build It</a:t>
            </a:r>
            <a:endParaRPr b="1" sz="3000" cap="none">
              <a:solidFill>
                <a:srgbClr val="000B60"/>
              </a:solidFill>
            </a:endParaRPr>
          </a:p>
        </p:txBody>
      </p:sp>
      <p:sp>
        <p:nvSpPr>
          <p:cNvPr id="187" name="Google Shape;187;p10"/>
          <p:cNvSpPr/>
          <p:nvPr/>
        </p:nvSpPr>
        <p:spPr>
          <a:xfrm>
            <a:off x="502920" y="1783080"/>
            <a:ext cx="11201400" cy="713100"/>
          </a:xfrm>
          <a:prstGeom prst="roundRect">
            <a:avLst>
              <a:gd fmla="val 6410"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0"/>
          <p:cNvSpPr txBox="1"/>
          <p:nvPr/>
        </p:nvSpPr>
        <p:spPr>
          <a:xfrm>
            <a:off x="777240" y="1911096"/>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01</a:t>
            </a:r>
            <a:endParaRPr b="1" sz="2000" cap="none">
              <a:solidFill>
                <a:srgbClr val="C01E4B"/>
              </a:solidFill>
            </a:endParaRPr>
          </a:p>
        </p:txBody>
      </p:sp>
      <p:sp>
        <p:nvSpPr>
          <p:cNvPr id="189" name="Google Shape;189;p10"/>
          <p:cNvSpPr txBox="1"/>
          <p:nvPr/>
        </p:nvSpPr>
        <p:spPr>
          <a:xfrm>
            <a:off x="1508760" y="1956816"/>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A SMALL PLAN</a:t>
            </a:r>
            <a:endParaRPr b="1" sz="1600" cap="none">
              <a:solidFill>
                <a:srgbClr val="000B60"/>
              </a:solidFill>
            </a:endParaRPr>
          </a:p>
        </p:txBody>
      </p:sp>
      <p:sp>
        <p:nvSpPr>
          <p:cNvPr id="190" name="Google Shape;190;p10"/>
          <p:cNvSpPr txBox="1"/>
          <p:nvPr/>
        </p:nvSpPr>
        <p:spPr>
          <a:xfrm>
            <a:off x="4892040" y="1965960"/>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Choose roles, a known runtime and a state directory.</a:t>
            </a:r>
            <a:endParaRPr cap="none">
              <a:solidFill>
                <a:srgbClr val="1A2943"/>
              </a:solidFill>
            </a:endParaRPr>
          </a:p>
        </p:txBody>
      </p:sp>
      <p:sp>
        <p:nvSpPr>
          <p:cNvPr id="191" name="Google Shape;191;p10"/>
          <p:cNvSpPr/>
          <p:nvPr/>
        </p:nvSpPr>
        <p:spPr>
          <a:xfrm>
            <a:off x="502920" y="2624328"/>
            <a:ext cx="11201400" cy="713100"/>
          </a:xfrm>
          <a:prstGeom prst="roundRect">
            <a:avLst>
              <a:gd fmla="val 641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0"/>
          <p:cNvSpPr txBox="1"/>
          <p:nvPr/>
        </p:nvSpPr>
        <p:spPr>
          <a:xfrm>
            <a:off x="777240" y="2752344"/>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02</a:t>
            </a:r>
            <a:endParaRPr b="1" sz="2000" cap="none">
              <a:solidFill>
                <a:srgbClr val="C01E4B"/>
              </a:solidFill>
            </a:endParaRPr>
          </a:p>
        </p:txBody>
      </p:sp>
      <p:sp>
        <p:nvSpPr>
          <p:cNvPr id="193" name="Google Shape;193;p10"/>
          <p:cNvSpPr txBox="1"/>
          <p:nvPr/>
        </p:nvSpPr>
        <p:spPr>
          <a:xfrm>
            <a:off x="1508760" y="2798064"/>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A VERTICAL SLICE</a:t>
            </a:r>
            <a:endParaRPr b="1" sz="1600" cap="none">
              <a:solidFill>
                <a:srgbClr val="000B60"/>
              </a:solidFill>
            </a:endParaRPr>
          </a:p>
        </p:txBody>
      </p:sp>
      <p:sp>
        <p:nvSpPr>
          <p:cNvPr id="194" name="Google Shape;194;p10"/>
          <p:cNvSpPr txBox="1"/>
          <p:nvPr/>
        </p:nvSpPr>
        <p:spPr>
          <a:xfrm>
            <a:off x="4892040" y="2807208"/>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Start the app, reserve one seat, read back the record.</a:t>
            </a:r>
            <a:endParaRPr cap="none">
              <a:solidFill>
                <a:srgbClr val="1A2943"/>
              </a:solidFill>
            </a:endParaRPr>
          </a:p>
        </p:txBody>
      </p:sp>
      <p:sp>
        <p:nvSpPr>
          <p:cNvPr id="195" name="Google Shape;195;p10"/>
          <p:cNvSpPr/>
          <p:nvPr/>
        </p:nvSpPr>
        <p:spPr>
          <a:xfrm>
            <a:off x="502920" y="3465576"/>
            <a:ext cx="11201400" cy="713100"/>
          </a:xfrm>
          <a:prstGeom prst="roundRect">
            <a:avLst>
              <a:gd fmla="val 6410"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0"/>
          <p:cNvSpPr txBox="1"/>
          <p:nvPr/>
        </p:nvSpPr>
        <p:spPr>
          <a:xfrm>
            <a:off x="777240" y="3593592"/>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03</a:t>
            </a:r>
            <a:endParaRPr b="1" sz="2000" cap="none">
              <a:solidFill>
                <a:srgbClr val="C01E4B"/>
              </a:solidFill>
            </a:endParaRPr>
          </a:p>
        </p:txBody>
      </p:sp>
      <p:sp>
        <p:nvSpPr>
          <p:cNvPr id="197" name="Google Shape;197;p10"/>
          <p:cNvSpPr txBox="1"/>
          <p:nvPr/>
        </p:nvSpPr>
        <p:spPr>
          <a:xfrm>
            <a:off x="1508760" y="3639312"/>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THE RISKY PATHS</a:t>
            </a:r>
            <a:endParaRPr b="1" sz="1600" cap="none">
              <a:solidFill>
                <a:srgbClr val="000B60"/>
              </a:solidFill>
            </a:endParaRPr>
          </a:p>
        </p:txBody>
      </p:sp>
      <p:sp>
        <p:nvSpPr>
          <p:cNvPr id="198" name="Google Shape;198;p10"/>
          <p:cNvSpPr txBox="1"/>
          <p:nvPr/>
        </p:nvSpPr>
        <p:spPr>
          <a:xfrm>
            <a:off x="4892040" y="3648456"/>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Capacity, request replay, cancellation and restart.</a:t>
            </a:r>
            <a:endParaRPr cap="none">
              <a:solidFill>
                <a:srgbClr val="1A2943"/>
              </a:solidFill>
            </a:endParaRPr>
          </a:p>
        </p:txBody>
      </p:sp>
      <p:sp>
        <p:nvSpPr>
          <p:cNvPr id="199" name="Google Shape;199;p10"/>
          <p:cNvSpPr/>
          <p:nvPr/>
        </p:nvSpPr>
        <p:spPr>
          <a:xfrm>
            <a:off x="502920" y="4306824"/>
            <a:ext cx="11201400" cy="713100"/>
          </a:xfrm>
          <a:prstGeom prst="roundRect">
            <a:avLst>
              <a:gd fmla="val 641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0"/>
          <p:cNvSpPr txBox="1"/>
          <p:nvPr/>
        </p:nvSpPr>
        <p:spPr>
          <a:xfrm>
            <a:off x="777240" y="4434840"/>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04</a:t>
            </a:r>
            <a:endParaRPr b="1" sz="2000" cap="none">
              <a:solidFill>
                <a:srgbClr val="C01E4B"/>
              </a:solidFill>
            </a:endParaRPr>
          </a:p>
        </p:txBody>
      </p:sp>
      <p:sp>
        <p:nvSpPr>
          <p:cNvPr id="201" name="Google Shape;201;p10"/>
          <p:cNvSpPr txBox="1"/>
          <p:nvPr/>
        </p:nvSpPr>
        <p:spPr>
          <a:xfrm>
            <a:off x="1508760" y="4480560"/>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A HANDOFF</a:t>
            </a:r>
            <a:endParaRPr b="1" sz="1600" cap="none">
              <a:solidFill>
                <a:srgbClr val="000B60"/>
              </a:solidFill>
            </a:endParaRPr>
          </a:p>
        </p:txBody>
      </p:sp>
      <p:sp>
        <p:nvSpPr>
          <p:cNvPr id="202" name="Google Shape;202;p10"/>
          <p:cNvSpPr txBox="1"/>
          <p:nvPr/>
        </p:nvSpPr>
        <p:spPr>
          <a:xfrm>
            <a:off x="4892040" y="4489704"/>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Keep run, reset and test instructions up to date.</a:t>
            </a:r>
            <a:endParaRPr cap="none">
              <a:solidFill>
                <a:srgbClr val="1A2943"/>
              </a:solidFill>
            </a:endParaRPr>
          </a:p>
        </p:txBody>
      </p:sp>
      <p:sp>
        <p:nvSpPr>
          <p:cNvPr id="203" name="Google Shape;203;p10"/>
          <p:cNvSpPr/>
          <p:nvPr/>
        </p:nvSpPr>
        <p:spPr>
          <a:xfrm>
            <a:off x="502920" y="5148072"/>
            <a:ext cx="11201400" cy="713100"/>
          </a:xfrm>
          <a:prstGeom prst="roundRect">
            <a:avLst>
              <a:gd fmla="val 6410"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0"/>
          <p:cNvSpPr txBox="1"/>
          <p:nvPr/>
        </p:nvSpPr>
        <p:spPr>
          <a:xfrm>
            <a:off x="777240" y="5276088"/>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05</a:t>
            </a:r>
            <a:endParaRPr b="1" sz="2000" cap="none">
              <a:solidFill>
                <a:srgbClr val="C01E4B"/>
              </a:solidFill>
            </a:endParaRPr>
          </a:p>
        </p:txBody>
      </p:sp>
      <p:sp>
        <p:nvSpPr>
          <p:cNvPr id="205" name="Google Shape;205;p10"/>
          <p:cNvSpPr txBox="1"/>
          <p:nvPr/>
        </p:nvSpPr>
        <p:spPr>
          <a:xfrm>
            <a:off x="1508760" y="5321808"/>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THE STOP TIME</a:t>
            </a:r>
            <a:endParaRPr b="1" sz="1600" cap="none">
              <a:solidFill>
                <a:srgbClr val="000B60"/>
              </a:solidFill>
            </a:endParaRPr>
          </a:p>
        </p:txBody>
      </p:sp>
      <p:sp>
        <p:nvSpPr>
          <p:cNvPr id="206" name="Google Shape;206;p10"/>
          <p:cNvSpPr txBox="1"/>
          <p:nvPr/>
        </p:nvSpPr>
        <p:spPr>
          <a:xfrm>
            <a:off x="4892040" y="5330952"/>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No new features after 21:40. Verification comes next.</a:t>
            </a:r>
            <a:endParaRPr cap="none">
              <a:solidFill>
                <a:srgbClr val="1A2943"/>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 name="Shape 211"/>
        <p:cNvGrpSpPr/>
        <p:nvPr/>
      </p:nvGrpSpPr>
      <p:grpSpPr>
        <a:xfrm>
          <a:off x="0" y="0"/>
          <a:ext cx="0" cy="0"/>
          <a:chOff x="0" y="0"/>
          <a:chExt cx="0" cy="0"/>
        </a:xfrm>
      </p:grpSpPr>
      <p:sp>
        <p:nvSpPr>
          <p:cNvPr id="212" name="Google Shape;212;p11"/>
          <p:cNvSpPr txBox="1"/>
          <p:nvPr/>
        </p:nvSpPr>
        <p:spPr>
          <a:xfrm>
            <a:off x="502920" y="6473952"/>
            <a:ext cx="6400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5"/>
              </a:buClr>
              <a:buSzPts val="900"/>
              <a:buFont typeface="Arial"/>
              <a:buNone/>
            </a:pPr>
            <a:r>
              <a:rPr lang="en-US" sz="900">
                <a:solidFill>
                  <a:srgbClr val="5A6B85"/>
                </a:solidFill>
              </a:rPr>
              <a:t>ATD 2026 · Completion Theater Hackathon</a:t>
            </a:r>
            <a:endParaRPr sz="900" cap="none">
              <a:solidFill>
                <a:srgbClr val="5A6B85"/>
              </a:solidFill>
            </a:endParaRPr>
          </a:p>
        </p:txBody>
      </p:sp>
      <p:sp>
        <p:nvSpPr>
          <p:cNvPr id="213" name="Google Shape;213;p11"/>
          <p:cNvSpPr txBox="1"/>
          <p:nvPr/>
        </p:nvSpPr>
        <p:spPr>
          <a:xfrm>
            <a:off x="11231575" y="647395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5"/>
              </a:buClr>
              <a:buSzPts val="900"/>
              <a:buFont typeface="Arial"/>
              <a:buNone/>
            </a:pPr>
            <a:r>
              <a:rPr lang="en-US" sz="900">
                <a:solidFill>
                  <a:srgbClr val="5A6B85"/>
                </a:solidFill>
              </a:rPr>
              <a:t>9</a:t>
            </a:r>
            <a:endParaRPr sz="900" cap="none">
              <a:solidFill>
                <a:srgbClr val="5A6B85"/>
              </a:solidFill>
            </a:endParaRPr>
          </a:p>
        </p:txBody>
      </p:sp>
      <p:sp>
        <p:nvSpPr>
          <p:cNvPr id="214" name="Google Shape;214;p11"/>
          <p:cNvSpPr txBox="1"/>
          <p:nvPr/>
        </p:nvSpPr>
        <p:spPr>
          <a:xfrm>
            <a:off x="502920" y="384048"/>
            <a:ext cx="111558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1200"/>
              <a:buFont typeface="Arial"/>
              <a:buNone/>
            </a:pPr>
            <a:r>
              <a:rPr b="1" lang="en-US" sz="1200">
                <a:solidFill>
                  <a:srgbClr val="C01E4B"/>
                </a:solidFill>
              </a:rPr>
              <a:t>21:40–22:00, 20 MINUTES</a:t>
            </a:r>
            <a:endParaRPr b="1" sz="1200" cap="none">
              <a:solidFill>
                <a:srgbClr val="C01E4B"/>
              </a:solidFill>
            </a:endParaRPr>
          </a:p>
        </p:txBody>
      </p:sp>
      <p:sp>
        <p:nvSpPr>
          <p:cNvPr id="215" name="Google Shape;215;p11"/>
          <p:cNvSpPr txBox="1"/>
          <p:nvPr/>
        </p:nvSpPr>
        <p:spPr>
          <a:xfrm>
            <a:off x="502920" y="676656"/>
            <a:ext cx="111558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3000"/>
              <a:buFont typeface="Arial"/>
              <a:buNone/>
            </a:pPr>
            <a:r>
              <a:rPr b="1" lang="en-US" sz="3000">
                <a:solidFill>
                  <a:srgbClr val="000B60"/>
                </a:solidFill>
              </a:rPr>
              <a:t>Prove It</a:t>
            </a:r>
            <a:endParaRPr b="1" sz="3000" cap="none">
              <a:solidFill>
                <a:srgbClr val="000B60"/>
              </a:solidFill>
            </a:endParaRPr>
          </a:p>
        </p:txBody>
      </p:sp>
      <p:sp>
        <p:nvSpPr>
          <p:cNvPr id="216" name="Google Shape;216;p11"/>
          <p:cNvSpPr/>
          <p:nvPr/>
        </p:nvSpPr>
        <p:spPr>
          <a:xfrm>
            <a:off x="502920" y="1783080"/>
            <a:ext cx="11201400" cy="713100"/>
          </a:xfrm>
          <a:prstGeom prst="roundRect">
            <a:avLst>
              <a:gd fmla="val 6410"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txBox="1"/>
          <p:nvPr/>
        </p:nvSpPr>
        <p:spPr>
          <a:xfrm>
            <a:off x="777240" y="1911096"/>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01</a:t>
            </a:r>
            <a:endParaRPr b="1" sz="2000" cap="none">
              <a:solidFill>
                <a:srgbClr val="C01E4B"/>
              </a:solidFill>
            </a:endParaRPr>
          </a:p>
        </p:txBody>
      </p:sp>
      <p:sp>
        <p:nvSpPr>
          <p:cNvPr id="218" name="Google Shape;218;p11"/>
          <p:cNvSpPr txBox="1"/>
          <p:nvPr/>
        </p:nvSpPr>
        <p:spPr>
          <a:xfrm>
            <a:off x="1508760" y="1956816"/>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EXECUTE</a:t>
            </a:r>
            <a:endParaRPr b="1" sz="1600" cap="none">
              <a:solidFill>
                <a:srgbClr val="000B60"/>
              </a:solidFill>
            </a:endParaRPr>
          </a:p>
        </p:txBody>
      </p:sp>
      <p:sp>
        <p:nvSpPr>
          <p:cNvPr id="219" name="Google Shape;219;p11"/>
          <p:cNvSpPr txBox="1"/>
          <p:nvPr/>
        </p:nvSpPr>
        <p:spPr>
          <a:xfrm>
            <a:off x="4892040" y="1965960"/>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Run AC-01 through AC-08. Keep the raw results.</a:t>
            </a:r>
            <a:endParaRPr cap="none">
              <a:solidFill>
                <a:srgbClr val="1A2943"/>
              </a:solidFill>
            </a:endParaRPr>
          </a:p>
        </p:txBody>
      </p:sp>
      <p:sp>
        <p:nvSpPr>
          <p:cNvPr id="220" name="Google Shape;220;p11"/>
          <p:cNvSpPr/>
          <p:nvPr/>
        </p:nvSpPr>
        <p:spPr>
          <a:xfrm>
            <a:off x="502920" y="2624328"/>
            <a:ext cx="11201400" cy="713100"/>
          </a:xfrm>
          <a:prstGeom prst="roundRect">
            <a:avLst>
              <a:gd fmla="val 641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txBox="1"/>
          <p:nvPr/>
        </p:nvSpPr>
        <p:spPr>
          <a:xfrm>
            <a:off x="777240" y="2752344"/>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02</a:t>
            </a:r>
            <a:endParaRPr b="1" sz="2000" cap="none">
              <a:solidFill>
                <a:srgbClr val="C01E4B"/>
              </a:solidFill>
            </a:endParaRPr>
          </a:p>
        </p:txBody>
      </p:sp>
      <p:sp>
        <p:nvSpPr>
          <p:cNvPr id="222" name="Google Shape;222;p11"/>
          <p:cNvSpPr txBox="1"/>
          <p:nvPr/>
        </p:nvSpPr>
        <p:spPr>
          <a:xfrm>
            <a:off x="1508760" y="2798064"/>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READ STATE</a:t>
            </a:r>
            <a:endParaRPr b="1" sz="1600" cap="none">
              <a:solidFill>
                <a:srgbClr val="000B60"/>
              </a:solidFill>
            </a:endParaRPr>
          </a:p>
        </p:txBody>
      </p:sp>
      <p:sp>
        <p:nvSpPr>
          <p:cNvPr id="223" name="Google Shape;223;p11"/>
          <p:cNvSpPr txBox="1"/>
          <p:nvPr/>
        </p:nvSpPr>
        <p:spPr>
          <a:xfrm>
            <a:off x="4892040" y="2807208"/>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Compare the UI, HTTP responses and durable records.</a:t>
            </a:r>
            <a:endParaRPr cap="none">
              <a:solidFill>
                <a:srgbClr val="1A2943"/>
              </a:solidFill>
            </a:endParaRPr>
          </a:p>
        </p:txBody>
      </p:sp>
      <p:sp>
        <p:nvSpPr>
          <p:cNvPr id="224" name="Google Shape;224;p11"/>
          <p:cNvSpPr/>
          <p:nvPr/>
        </p:nvSpPr>
        <p:spPr>
          <a:xfrm>
            <a:off x="502920" y="3465576"/>
            <a:ext cx="11201400" cy="713100"/>
          </a:xfrm>
          <a:prstGeom prst="roundRect">
            <a:avLst>
              <a:gd fmla="val 6410"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txBox="1"/>
          <p:nvPr/>
        </p:nvSpPr>
        <p:spPr>
          <a:xfrm>
            <a:off x="777240" y="3593592"/>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03</a:t>
            </a:r>
            <a:endParaRPr b="1" sz="2000" cap="none">
              <a:solidFill>
                <a:srgbClr val="C01E4B"/>
              </a:solidFill>
            </a:endParaRPr>
          </a:p>
        </p:txBody>
      </p:sp>
      <p:sp>
        <p:nvSpPr>
          <p:cNvPr id="226" name="Google Shape;226;p11"/>
          <p:cNvSpPr txBox="1"/>
          <p:nvPr/>
        </p:nvSpPr>
        <p:spPr>
          <a:xfrm>
            <a:off x="1508760" y="3639312"/>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CHALLENGE A TEST</a:t>
            </a:r>
            <a:endParaRPr b="1" sz="1600" cap="none">
              <a:solidFill>
                <a:srgbClr val="000B60"/>
              </a:solidFill>
            </a:endParaRPr>
          </a:p>
        </p:txBody>
      </p:sp>
      <p:sp>
        <p:nvSpPr>
          <p:cNvPr id="227" name="Google Shape;227;p11"/>
          <p:cNvSpPr txBox="1"/>
          <p:nvPr/>
        </p:nvSpPr>
        <p:spPr>
          <a:xfrm>
            <a:off x="4892040" y="3648456"/>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In a copy, make important behavior fail. See a red check.</a:t>
            </a:r>
            <a:endParaRPr cap="none">
              <a:solidFill>
                <a:srgbClr val="1A2943"/>
              </a:solidFill>
            </a:endParaRPr>
          </a:p>
        </p:txBody>
      </p:sp>
      <p:sp>
        <p:nvSpPr>
          <p:cNvPr id="228" name="Google Shape;228;p11"/>
          <p:cNvSpPr/>
          <p:nvPr/>
        </p:nvSpPr>
        <p:spPr>
          <a:xfrm>
            <a:off x="502920" y="4306824"/>
            <a:ext cx="11201400" cy="713100"/>
          </a:xfrm>
          <a:prstGeom prst="roundRect">
            <a:avLst>
              <a:gd fmla="val 641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1"/>
          <p:cNvSpPr txBox="1"/>
          <p:nvPr/>
        </p:nvSpPr>
        <p:spPr>
          <a:xfrm>
            <a:off x="777240" y="4434840"/>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04</a:t>
            </a:r>
            <a:endParaRPr b="1" sz="2000" cap="none">
              <a:solidFill>
                <a:srgbClr val="C01E4B"/>
              </a:solidFill>
            </a:endParaRPr>
          </a:p>
        </p:txBody>
      </p:sp>
      <p:sp>
        <p:nvSpPr>
          <p:cNvPr id="230" name="Google Shape;230;p11"/>
          <p:cNvSpPr txBox="1"/>
          <p:nvPr/>
        </p:nvSpPr>
        <p:spPr>
          <a:xfrm>
            <a:off x="1508760" y="4480560"/>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FREEZE AT 21:55</a:t>
            </a:r>
            <a:endParaRPr b="1" sz="1600" cap="none">
              <a:solidFill>
                <a:srgbClr val="000B60"/>
              </a:solidFill>
            </a:endParaRPr>
          </a:p>
        </p:txBody>
      </p:sp>
      <p:sp>
        <p:nvSpPr>
          <p:cNvPr id="231" name="Google Shape;231;p11"/>
          <p:cNvSpPr txBox="1"/>
          <p:nvPr/>
        </p:nvSpPr>
        <p:spPr>
          <a:xfrm>
            <a:off x="4892040" y="4489704"/>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Record the source checksum or a clean commit hash.</a:t>
            </a:r>
            <a:endParaRPr cap="none">
              <a:solidFill>
                <a:srgbClr val="1A2943"/>
              </a:solidFill>
            </a:endParaRPr>
          </a:p>
        </p:txBody>
      </p:sp>
      <p:sp>
        <p:nvSpPr>
          <p:cNvPr id="232" name="Google Shape;232;p11"/>
          <p:cNvSpPr/>
          <p:nvPr/>
        </p:nvSpPr>
        <p:spPr>
          <a:xfrm>
            <a:off x="502920" y="5148072"/>
            <a:ext cx="11201400" cy="713100"/>
          </a:xfrm>
          <a:prstGeom prst="roundRect">
            <a:avLst>
              <a:gd fmla="val 6410"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txBox="1"/>
          <p:nvPr/>
        </p:nvSpPr>
        <p:spPr>
          <a:xfrm>
            <a:off x="777240" y="5276088"/>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05</a:t>
            </a:r>
            <a:endParaRPr b="1" sz="2000" cap="none">
              <a:solidFill>
                <a:srgbClr val="C01E4B"/>
              </a:solidFill>
            </a:endParaRPr>
          </a:p>
        </p:txBody>
      </p:sp>
      <p:sp>
        <p:nvSpPr>
          <p:cNvPr id="234" name="Google Shape;234;p11"/>
          <p:cNvSpPr txBox="1"/>
          <p:nvPr/>
        </p:nvSpPr>
        <p:spPr>
          <a:xfrm>
            <a:off x="1508760" y="5321808"/>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PACKAGE BY 22:00</a:t>
            </a:r>
            <a:endParaRPr b="1" sz="1600" cap="none">
              <a:solidFill>
                <a:srgbClr val="000B60"/>
              </a:solidFill>
            </a:endParaRPr>
          </a:p>
        </p:txBody>
      </p:sp>
      <p:sp>
        <p:nvSpPr>
          <p:cNvPr id="235" name="Google Shape;235;p11"/>
          <p:cNvSpPr txBox="1"/>
          <p:nvPr/>
        </p:nvSpPr>
        <p:spPr>
          <a:xfrm>
            <a:off x="4892040" y="5330952"/>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Manifest, logs, instructions and known gaps. No secrets.</a:t>
            </a:r>
            <a:endParaRPr cap="none">
              <a:solidFill>
                <a:srgbClr val="1A2943"/>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0" name="Shape 240"/>
        <p:cNvGrpSpPr/>
        <p:nvPr/>
      </p:nvGrpSpPr>
      <p:grpSpPr>
        <a:xfrm>
          <a:off x="0" y="0"/>
          <a:ext cx="0" cy="0"/>
          <a:chOff x="0" y="0"/>
          <a:chExt cx="0" cy="0"/>
        </a:xfrm>
      </p:grpSpPr>
      <p:sp>
        <p:nvSpPr>
          <p:cNvPr id="241" name="Google Shape;241;p12"/>
          <p:cNvSpPr txBox="1"/>
          <p:nvPr/>
        </p:nvSpPr>
        <p:spPr>
          <a:xfrm>
            <a:off x="502920" y="6473952"/>
            <a:ext cx="6400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5"/>
              </a:buClr>
              <a:buSzPts val="900"/>
              <a:buFont typeface="Arial"/>
              <a:buNone/>
            </a:pPr>
            <a:r>
              <a:rPr lang="en-US" sz="900">
                <a:solidFill>
                  <a:srgbClr val="5A6B85"/>
                </a:solidFill>
              </a:rPr>
              <a:t>ATD 2026 · Completion Theater Hackathon</a:t>
            </a:r>
            <a:endParaRPr sz="900" cap="none">
              <a:solidFill>
                <a:srgbClr val="5A6B85"/>
              </a:solidFill>
            </a:endParaRPr>
          </a:p>
        </p:txBody>
      </p:sp>
      <p:sp>
        <p:nvSpPr>
          <p:cNvPr id="242" name="Google Shape;242;p12"/>
          <p:cNvSpPr txBox="1"/>
          <p:nvPr/>
        </p:nvSpPr>
        <p:spPr>
          <a:xfrm>
            <a:off x="11231575" y="647395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5"/>
              </a:buClr>
              <a:buSzPts val="900"/>
              <a:buFont typeface="Arial"/>
              <a:buNone/>
            </a:pPr>
            <a:r>
              <a:rPr lang="en-US" sz="900">
                <a:solidFill>
                  <a:srgbClr val="5A6B85"/>
                </a:solidFill>
              </a:rPr>
              <a:t>10</a:t>
            </a:r>
            <a:endParaRPr sz="900" cap="none">
              <a:solidFill>
                <a:srgbClr val="5A6B85"/>
              </a:solidFill>
            </a:endParaRPr>
          </a:p>
        </p:txBody>
      </p:sp>
      <p:sp>
        <p:nvSpPr>
          <p:cNvPr id="243" name="Google Shape;243;p12"/>
          <p:cNvSpPr txBox="1"/>
          <p:nvPr/>
        </p:nvSpPr>
        <p:spPr>
          <a:xfrm>
            <a:off x="502920" y="384048"/>
            <a:ext cx="111558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1200"/>
              <a:buFont typeface="Arial"/>
              <a:buNone/>
            </a:pPr>
            <a:r>
              <a:rPr b="1" lang="en-US" sz="1200">
                <a:solidFill>
                  <a:srgbClr val="C01E4B"/>
                </a:solidFill>
              </a:rPr>
              <a:t>22:05–22:40, 35 MINUTES</a:t>
            </a:r>
            <a:endParaRPr b="1" sz="1200" cap="none">
              <a:solidFill>
                <a:srgbClr val="C01E4B"/>
              </a:solidFill>
            </a:endParaRPr>
          </a:p>
        </p:txBody>
      </p:sp>
      <p:sp>
        <p:nvSpPr>
          <p:cNvPr id="244" name="Google Shape;244;p12"/>
          <p:cNvSpPr txBox="1"/>
          <p:nvPr/>
        </p:nvSpPr>
        <p:spPr>
          <a:xfrm>
            <a:off x="502920" y="676656"/>
            <a:ext cx="111558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3000"/>
              <a:buFont typeface="Arial"/>
              <a:buNone/>
            </a:pPr>
            <a:r>
              <a:rPr b="1" lang="en-US" sz="3000">
                <a:solidFill>
                  <a:srgbClr val="000B60"/>
                </a:solidFill>
              </a:rPr>
              <a:t>Smash It, with evidence</a:t>
            </a:r>
            <a:endParaRPr b="1" sz="3000" cap="none">
              <a:solidFill>
                <a:srgbClr val="000B60"/>
              </a:solidFill>
            </a:endParaRPr>
          </a:p>
        </p:txBody>
      </p:sp>
      <p:sp>
        <p:nvSpPr>
          <p:cNvPr id="245" name="Google Shape;245;p12"/>
          <p:cNvSpPr/>
          <p:nvPr/>
        </p:nvSpPr>
        <p:spPr>
          <a:xfrm>
            <a:off x="502920" y="1783080"/>
            <a:ext cx="11201400" cy="713100"/>
          </a:xfrm>
          <a:prstGeom prst="roundRect">
            <a:avLst>
              <a:gd fmla="val 6410"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2"/>
          <p:cNvSpPr txBox="1"/>
          <p:nvPr/>
        </p:nvSpPr>
        <p:spPr>
          <a:xfrm>
            <a:off x="777240" y="1911096"/>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05</a:t>
            </a:r>
            <a:endParaRPr b="1" sz="2000" cap="none">
              <a:solidFill>
                <a:srgbClr val="C01E4B"/>
              </a:solidFill>
            </a:endParaRPr>
          </a:p>
        </p:txBody>
      </p:sp>
      <p:sp>
        <p:nvSpPr>
          <p:cNvPr id="247" name="Google Shape;247;p12"/>
          <p:cNvSpPr txBox="1"/>
          <p:nvPr/>
        </p:nvSpPr>
        <p:spPr>
          <a:xfrm>
            <a:off x="1508760" y="1956816"/>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START</a:t>
            </a:r>
            <a:endParaRPr b="1" sz="1600" cap="none">
              <a:solidFill>
                <a:srgbClr val="000B60"/>
              </a:solidFill>
            </a:endParaRPr>
          </a:p>
        </p:txBody>
      </p:sp>
      <p:sp>
        <p:nvSpPr>
          <p:cNvPr id="248" name="Google Shape;248;p12"/>
          <p:cNvSpPr txBox="1"/>
          <p:nvPr/>
        </p:nvSpPr>
        <p:spPr>
          <a:xfrm>
            <a:off x="4892040" y="1965960"/>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Cold-run the next team's frozen artifact.</a:t>
            </a:r>
            <a:endParaRPr cap="none">
              <a:solidFill>
                <a:srgbClr val="1A2943"/>
              </a:solidFill>
            </a:endParaRPr>
          </a:p>
        </p:txBody>
      </p:sp>
      <p:sp>
        <p:nvSpPr>
          <p:cNvPr id="249" name="Google Shape;249;p12"/>
          <p:cNvSpPr/>
          <p:nvPr/>
        </p:nvSpPr>
        <p:spPr>
          <a:xfrm>
            <a:off x="502920" y="2624328"/>
            <a:ext cx="11201400" cy="713100"/>
          </a:xfrm>
          <a:prstGeom prst="roundRect">
            <a:avLst>
              <a:gd fmla="val 641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2"/>
          <p:cNvSpPr txBox="1"/>
          <p:nvPr/>
        </p:nvSpPr>
        <p:spPr>
          <a:xfrm>
            <a:off x="777240" y="2752344"/>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10</a:t>
            </a:r>
            <a:endParaRPr b="1" sz="2000" cap="none">
              <a:solidFill>
                <a:srgbClr val="C01E4B"/>
              </a:solidFill>
            </a:endParaRPr>
          </a:p>
        </p:txBody>
      </p:sp>
      <p:sp>
        <p:nvSpPr>
          <p:cNvPr id="251" name="Google Shape;251;p12"/>
          <p:cNvSpPr txBox="1"/>
          <p:nvPr/>
        </p:nvSpPr>
        <p:spPr>
          <a:xfrm>
            <a:off x="1508760" y="2798064"/>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INSPECT</a:t>
            </a:r>
            <a:endParaRPr b="1" sz="1600" cap="none">
              <a:solidFill>
                <a:srgbClr val="000B60"/>
              </a:solidFill>
            </a:endParaRPr>
          </a:p>
        </p:txBody>
      </p:sp>
      <p:sp>
        <p:nvSpPr>
          <p:cNvPr id="252" name="Google Shape;252;p12"/>
          <p:cNvSpPr txBox="1"/>
          <p:nvPr/>
        </p:nvSpPr>
        <p:spPr>
          <a:xfrm>
            <a:off x="4892040" y="2807208"/>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Reserve a seat and independently read persisted state.</a:t>
            </a:r>
            <a:endParaRPr cap="none">
              <a:solidFill>
                <a:srgbClr val="1A2943"/>
              </a:solidFill>
            </a:endParaRPr>
          </a:p>
        </p:txBody>
      </p:sp>
      <p:sp>
        <p:nvSpPr>
          <p:cNvPr id="253" name="Google Shape;253;p12"/>
          <p:cNvSpPr/>
          <p:nvPr/>
        </p:nvSpPr>
        <p:spPr>
          <a:xfrm>
            <a:off x="502920" y="3465576"/>
            <a:ext cx="11201400" cy="713100"/>
          </a:xfrm>
          <a:prstGeom prst="roundRect">
            <a:avLst>
              <a:gd fmla="val 6410"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2"/>
          <p:cNvSpPr txBox="1"/>
          <p:nvPr/>
        </p:nvSpPr>
        <p:spPr>
          <a:xfrm>
            <a:off x="777240" y="3593592"/>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10</a:t>
            </a:r>
            <a:endParaRPr b="1" sz="2000" cap="none">
              <a:solidFill>
                <a:srgbClr val="C01E4B"/>
              </a:solidFill>
            </a:endParaRPr>
          </a:p>
        </p:txBody>
      </p:sp>
      <p:sp>
        <p:nvSpPr>
          <p:cNvPr id="255" name="Google Shape;255;p12"/>
          <p:cNvSpPr txBox="1"/>
          <p:nvPr/>
        </p:nvSpPr>
        <p:spPr>
          <a:xfrm>
            <a:off x="1508760" y="3639312"/>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CHALLENGE</a:t>
            </a:r>
            <a:endParaRPr b="1" sz="1600" cap="none">
              <a:solidFill>
                <a:srgbClr val="000B60"/>
              </a:solidFill>
            </a:endParaRPr>
          </a:p>
        </p:txBody>
      </p:sp>
      <p:sp>
        <p:nvSpPr>
          <p:cNvPr id="256" name="Google Shape;256;p12"/>
          <p:cNvSpPr txBox="1"/>
          <p:nvPr/>
        </p:nvSpPr>
        <p:spPr>
          <a:xfrm>
            <a:off x="4892040" y="3648456"/>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Try capacity, concurrency, replay or malformed input.</a:t>
            </a:r>
            <a:endParaRPr cap="none">
              <a:solidFill>
                <a:srgbClr val="1A2943"/>
              </a:solidFill>
            </a:endParaRPr>
          </a:p>
        </p:txBody>
      </p:sp>
      <p:sp>
        <p:nvSpPr>
          <p:cNvPr id="257" name="Google Shape;257;p12"/>
          <p:cNvSpPr/>
          <p:nvPr/>
        </p:nvSpPr>
        <p:spPr>
          <a:xfrm>
            <a:off x="502920" y="4306824"/>
            <a:ext cx="11201400" cy="713100"/>
          </a:xfrm>
          <a:prstGeom prst="roundRect">
            <a:avLst>
              <a:gd fmla="val 641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2"/>
          <p:cNvSpPr txBox="1"/>
          <p:nvPr/>
        </p:nvSpPr>
        <p:spPr>
          <a:xfrm>
            <a:off x="777240" y="4434840"/>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05</a:t>
            </a:r>
            <a:endParaRPr b="1" sz="2000" cap="none">
              <a:solidFill>
                <a:srgbClr val="C01E4B"/>
              </a:solidFill>
            </a:endParaRPr>
          </a:p>
        </p:txBody>
      </p:sp>
      <p:sp>
        <p:nvSpPr>
          <p:cNvPr id="259" name="Google Shape;259;p12"/>
          <p:cNvSpPr txBox="1"/>
          <p:nvPr/>
        </p:nvSpPr>
        <p:spPr>
          <a:xfrm>
            <a:off x="1508760" y="4480560"/>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CHECK THE CLAIM</a:t>
            </a:r>
            <a:endParaRPr b="1" sz="1600" cap="none">
              <a:solidFill>
                <a:srgbClr val="000B60"/>
              </a:solidFill>
            </a:endParaRPr>
          </a:p>
        </p:txBody>
      </p:sp>
      <p:sp>
        <p:nvSpPr>
          <p:cNvPr id="260" name="Google Shape;260;p12"/>
          <p:cNvSpPr txBox="1"/>
          <p:nvPr/>
        </p:nvSpPr>
        <p:spPr>
          <a:xfrm>
            <a:off x="4892040" y="4489704"/>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Challenge a test, a metric or a restart claim.</a:t>
            </a:r>
            <a:endParaRPr cap="none">
              <a:solidFill>
                <a:srgbClr val="1A2943"/>
              </a:solidFill>
            </a:endParaRPr>
          </a:p>
        </p:txBody>
      </p:sp>
      <p:sp>
        <p:nvSpPr>
          <p:cNvPr id="261" name="Google Shape;261;p12"/>
          <p:cNvSpPr/>
          <p:nvPr/>
        </p:nvSpPr>
        <p:spPr>
          <a:xfrm>
            <a:off x="502920" y="5148072"/>
            <a:ext cx="11201400" cy="713100"/>
          </a:xfrm>
          <a:prstGeom prst="roundRect">
            <a:avLst>
              <a:gd fmla="val 6410"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2"/>
          <p:cNvSpPr txBox="1"/>
          <p:nvPr/>
        </p:nvSpPr>
        <p:spPr>
          <a:xfrm>
            <a:off x="777240" y="5276088"/>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05</a:t>
            </a:r>
            <a:endParaRPr b="1" sz="2000" cap="none">
              <a:solidFill>
                <a:srgbClr val="C01E4B"/>
              </a:solidFill>
            </a:endParaRPr>
          </a:p>
        </p:txBody>
      </p:sp>
      <p:sp>
        <p:nvSpPr>
          <p:cNvPr id="263" name="Google Shape;263;p12"/>
          <p:cNvSpPr txBox="1"/>
          <p:nvPr/>
        </p:nvSpPr>
        <p:spPr>
          <a:xfrm>
            <a:off x="1508760" y="5321808"/>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REPORT</a:t>
            </a:r>
            <a:endParaRPr b="1" sz="1600" cap="none">
              <a:solidFill>
                <a:srgbClr val="000B60"/>
              </a:solidFill>
            </a:endParaRPr>
          </a:p>
        </p:txBody>
      </p:sp>
      <p:sp>
        <p:nvSpPr>
          <p:cNvPr id="264" name="Google Shape;264;p12"/>
          <p:cNvSpPr txBox="1"/>
          <p:nvPr/>
        </p:nvSpPr>
        <p:spPr>
          <a:xfrm>
            <a:off x="4892040" y="5330952"/>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Two strongest investigations. Record scope and limits.</a:t>
            </a:r>
            <a:endParaRPr cap="none">
              <a:solidFill>
                <a:srgbClr val="1A2943"/>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sp>
        <p:nvSpPr>
          <p:cNvPr id="270" name="Google Shape;270;p13"/>
          <p:cNvSpPr txBox="1"/>
          <p:nvPr/>
        </p:nvSpPr>
        <p:spPr>
          <a:xfrm>
            <a:off x="502920" y="6473952"/>
            <a:ext cx="6400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5"/>
              </a:buClr>
              <a:buSzPts val="900"/>
              <a:buFont typeface="Arial"/>
              <a:buNone/>
            </a:pPr>
            <a:r>
              <a:rPr lang="en-US" sz="900">
                <a:solidFill>
                  <a:srgbClr val="5A6B85"/>
                </a:solidFill>
              </a:rPr>
              <a:t>ATD 2026 · Completion Theater Hackathon</a:t>
            </a:r>
            <a:endParaRPr sz="900" cap="none">
              <a:solidFill>
                <a:srgbClr val="5A6B85"/>
              </a:solidFill>
            </a:endParaRPr>
          </a:p>
        </p:txBody>
      </p:sp>
      <p:sp>
        <p:nvSpPr>
          <p:cNvPr id="271" name="Google Shape;271;p13"/>
          <p:cNvSpPr txBox="1"/>
          <p:nvPr/>
        </p:nvSpPr>
        <p:spPr>
          <a:xfrm>
            <a:off x="11231575" y="647395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5"/>
              </a:buClr>
              <a:buSzPts val="900"/>
              <a:buFont typeface="Arial"/>
              <a:buNone/>
            </a:pPr>
            <a:r>
              <a:rPr lang="en-US" sz="900">
                <a:solidFill>
                  <a:srgbClr val="5A6B85"/>
                </a:solidFill>
              </a:rPr>
              <a:t>11</a:t>
            </a:r>
            <a:endParaRPr sz="900" cap="none">
              <a:solidFill>
                <a:srgbClr val="5A6B85"/>
              </a:solidFill>
            </a:endParaRPr>
          </a:p>
        </p:txBody>
      </p:sp>
      <p:sp>
        <p:nvSpPr>
          <p:cNvPr id="272" name="Google Shape;272;p13"/>
          <p:cNvSpPr txBox="1"/>
          <p:nvPr/>
        </p:nvSpPr>
        <p:spPr>
          <a:xfrm>
            <a:off x="502920" y="384048"/>
            <a:ext cx="111558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1200"/>
              <a:buFont typeface="Arial"/>
              <a:buNone/>
            </a:pPr>
            <a:r>
              <a:rPr b="1" lang="en-US" sz="1200">
                <a:solidFill>
                  <a:srgbClr val="C01E4B"/>
                </a:solidFill>
              </a:rPr>
              <a:t>22:40–23:00, UP TO EIGHT TEAMS</a:t>
            </a:r>
            <a:endParaRPr b="1" sz="1200" cap="none">
              <a:solidFill>
                <a:srgbClr val="C01E4B"/>
              </a:solidFill>
            </a:endParaRPr>
          </a:p>
        </p:txBody>
      </p:sp>
      <p:sp>
        <p:nvSpPr>
          <p:cNvPr id="273" name="Google Shape;273;p13"/>
          <p:cNvSpPr txBox="1"/>
          <p:nvPr/>
        </p:nvSpPr>
        <p:spPr>
          <a:xfrm>
            <a:off x="502920" y="676656"/>
            <a:ext cx="111558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3000"/>
              <a:buFont typeface="Arial"/>
              <a:buNone/>
            </a:pPr>
            <a:r>
              <a:rPr b="1" lang="en-US" sz="3000">
                <a:solidFill>
                  <a:srgbClr val="000B60"/>
                </a:solidFill>
              </a:rPr>
              <a:t>A two-minute evidence demo</a:t>
            </a:r>
            <a:endParaRPr b="1" sz="3000" cap="none">
              <a:solidFill>
                <a:srgbClr val="000B60"/>
              </a:solidFill>
            </a:endParaRPr>
          </a:p>
        </p:txBody>
      </p:sp>
      <p:sp>
        <p:nvSpPr>
          <p:cNvPr id="274" name="Google Shape;274;p13"/>
          <p:cNvSpPr/>
          <p:nvPr/>
        </p:nvSpPr>
        <p:spPr>
          <a:xfrm>
            <a:off x="502920" y="1783080"/>
            <a:ext cx="11201400" cy="713100"/>
          </a:xfrm>
          <a:prstGeom prst="roundRect">
            <a:avLst>
              <a:gd fmla="val 6410"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3"/>
          <p:cNvSpPr txBox="1"/>
          <p:nvPr/>
        </p:nvSpPr>
        <p:spPr>
          <a:xfrm>
            <a:off x="777240" y="1911096"/>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45</a:t>
            </a:r>
            <a:endParaRPr b="1" sz="2000" cap="none">
              <a:solidFill>
                <a:srgbClr val="C01E4B"/>
              </a:solidFill>
            </a:endParaRPr>
          </a:p>
        </p:txBody>
      </p:sp>
      <p:sp>
        <p:nvSpPr>
          <p:cNvPr id="276" name="Google Shape;276;p13"/>
          <p:cNvSpPr txBox="1"/>
          <p:nvPr/>
        </p:nvSpPr>
        <p:spPr>
          <a:xfrm>
            <a:off x="1508760" y="1956816"/>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SHOW BEHAVIOR</a:t>
            </a:r>
            <a:endParaRPr b="1" sz="1600" cap="none">
              <a:solidFill>
                <a:srgbClr val="000B60"/>
              </a:solidFill>
            </a:endParaRPr>
          </a:p>
        </p:txBody>
      </p:sp>
      <p:sp>
        <p:nvSpPr>
          <p:cNvPr id="277" name="Google Shape;277;p13"/>
          <p:cNvSpPr txBox="1"/>
          <p:nvPr/>
        </p:nvSpPr>
        <p:spPr>
          <a:xfrm>
            <a:off x="4892040" y="1965960"/>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One product behavior, tied to the frozen source.</a:t>
            </a:r>
            <a:endParaRPr cap="none">
              <a:solidFill>
                <a:srgbClr val="1A2943"/>
              </a:solidFill>
            </a:endParaRPr>
          </a:p>
        </p:txBody>
      </p:sp>
      <p:sp>
        <p:nvSpPr>
          <p:cNvPr id="278" name="Google Shape;278;p13"/>
          <p:cNvSpPr/>
          <p:nvPr/>
        </p:nvSpPr>
        <p:spPr>
          <a:xfrm>
            <a:off x="502920" y="2624328"/>
            <a:ext cx="11201400" cy="713100"/>
          </a:xfrm>
          <a:prstGeom prst="roundRect">
            <a:avLst>
              <a:gd fmla="val 641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3"/>
          <p:cNvSpPr txBox="1"/>
          <p:nvPr/>
        </p:nvSpPr>
        <p:spPr>
          <a:xfrm>
            <a:off x="777240" y="2752344"/>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45</a:t>
            </a:r>
            <a:endParaRPr b="1" sz="2000" cap="none">
              <a:solidFill>
                <a:srgbClr val="C01E4B"/>
              </a:solidFill>
            </a:endParaRPr>
          </a:p>
        </p:txBody>
      </p:sp>
      <p:sp>
        <p:nvSpPr>
          <p:cNvPr id="280" name="Google Shape;280;p13"/>
          <p:cNvSpPr txBox="1"/>
          <p:nvPr/>
        </p:nvSpPr>
        <p:spPr>
          <a:xfrm>
            <a:off x="1508760" y="2798064"/>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SHOW A CHALLENGE</a:t>
            </a:r>
            <a:endParaRPr b="1" sz="1600" cap="none">
              <a:solidFill>
                <a:srgbClr val="000B60"/>
              </a:solidFill>
            </a:endParaRPr>
          </a:p>
        </p:txBody>
      </p:sp>
      <p:sp>
        <p:nvSpPr>
          <p:cNvPr id="281" name="Google Shape;281;p13"/>
          <p:cNvSpPr txBox="1"/>
          <p:nvPr/>
        </p:nvSpPr>
        <p:spPr>
          <a:xfrm>
            <a:off x="4892040" y="2807208"/>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Your strongest independent investigation and receipt.</a:t>
            </a:r>
            <a:endParaRPr cap="none">
              <a:solidFill>
                <a:srgbClr val="1A2943"/>
              </a:solidFill>
            </a:endParaRPr>
          </a:p>
        </p:txBody>
      </p:sp>
      <p:sp>
        <p:nvSpPr>
          <p:cNvPr id="282" name="Google Shape;282;p13"/>
          <p:cNvSpPr/>
          <p:nvPr/>
        </p:nvSpPr>
        <p:spPr>
          <a:xfrm>
            <a:off x="502920" y="3465576"/>
            <a:ext cx="11201400" cy="713100"/>
          </a:xfrm>
          <a:prstGeom prst="roundRect">
            <a:avLst>
              <a:gd fmla="val 6410"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3"/>
          <p:cNvSpPr txBox="1"/>
          <p:nvPr/>
        </p:nvSpPr>
        <p:spPr>
          <a:xfrm>
            <a:off x="777240" y="3593592"/>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30</a:t>
            </a:r>
            <a:endParaRPr b="1" sz="2000" cap="none">
              <a:solidFill>
                <a:srgbClr val="C01E4B"/>
              </a:solidFill>
            </a:endParaRPr>
          </a:p>
        </p:txBody>
      </p:sp>
      <p:sp>
        <p:nvSpPr>
          <p:cNvPr id="284" name="Google Shape;284;p13"/>
          <p:cNvSpPr txBox="1"/>
          <p:nvPr/>
        </p:nvSpPr>
        <p:spPr>
          <a:xfrm>
            <a:off x="1508760" y="3639312"/>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NAME A LIMIT</a:t>
            </a:r>
            <a:endParaRPr b="1" sz="1600" cap="none">
              <a:solidFill>
                <a:srgbClr val="000B60"/>
              </a:solidFill>
            </a:endParaRPr>
          </a:p>
        </p:txBody>
      </p:sp>
      <p:sp>
        <p:nvSpPr>
          <p:cNvPr id="285" name="Google Shape;285;p13"/>
          <p:cNvSpPr txBox="1"/>
          <p:nvPr/>
        </p:nvSpPr>
        <p:spPr>
          <a:xfrm>
            <a:off x="4892040" y="3648456"/>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What remains unknown, or what you would change next.</a:t>
            </a:r>
            <a:endParaRPr cap="none">
              <a:solidFill>
                <a:srgbClr val="1A2943"/>
              </a:solidFill>
            </a:endParaRPr>
          </a:p>
        </p:txBody>
      </p:sp>
      <p:sp>
        <p:nvSpPr>
          <p:cNvPr id="286" name="Google Shape;286;p13"/>
          <p:cNvSpPr/>
          <p:nvPr/>
        </p:nvSpPr>
        <p:spPr>
          <a:xfrm>
            <a:off x="502920" y="4306824"/>
            <a:ext cx="11201400" cy="713100"/>
          </a:xfrm>
          <a:prstGeom prst="roundRect">
            <a:avLst>
              <a:gd fmla="val 641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3"/>
          <p:cNvSpPr txBox="1"/>
          <p:nvPr/>
        </p:nvSpPr>
        <p:spPr>
          <a:xfrm>
            <a:off x="777240" y="4434840"/>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04</a:t>
            </a:r>
            <a:endParaRPr b="1" sz="2000" cap="none">
              <a:solidFill>
                <a:srgbClr val="C01E4B"/>
              </a:solidFill>
            </a:endParaRPr>
          </a:p>
        </p:txBody>
      </p:sp>
      <p:sp>
        <p:nvSpPr>
          <p:cNvPr id="288" name="Google Shape;288;p13"/>
          <p:cNvSpPr txBox="1"/>
          <p:nvPr/>
        </p:nvSpPr>
        <p:spPr>
          <a:xfrm>
            <a:off x="1508760" y="4480560"/>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BUFFER MINUTES</a:t>
            </a:r>
            <a:endParaRPr b="1" sz="1600" cap="none">
              <a:solidFill>
                <a:srgbClr val="000B60"/>
              </a:solidFill>
            </a:endParaRPr>
          </a:p>
        </p:txBody>
      </p:sp>
      <p:sp>
        <p:nvSpPr>
          <p:cNvPr id="289" name="Google Shape;289;p13"/>
          <p:cNvSpPr txBox="1"/>
          <p:nvPr/>
        </p:nvSpPr>
        <p:spPr>
          <a:xfrm>
            <a:off x="4892040" y="4489704"/>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Across the whole round, for transitions and disputes.</a:t>
            </a:r>
            <a:endParaRPr cap="none">
              <a:solidFill>
                <a:srgbClr val="1A2943"/>
              </a:solidFill>
            </a:endParaRPr>
          </a:p>
        </p:txBody>
      </p:sp>
      <p:sp>
        <p:nvSpPr>
          <p:cNvPr id="290" name="Google Shape;290;p13"/>
          <p:cNvSpPr/>
          <p:nvPr/>
        </p:nvSpPr>
        <p:spPr>
          <a:xfrm>
            <a:off x="502920" y="5148072"/>
            <a:ext cx="11201400" cy="713100"/>
          </a:xfrm>
          <a:prstGeom prst="roundRect">
            <a:avLst>
              <a:gd fmla="val 6410"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3"/>
          <p:cNvSpPr txBox="1"/>
          <p:nvPr/>
        </p:nvSpPr>
        <p:spPr>
          <a:xfrm>
            <a:off x="777240" y="5276088"/>
            <a:ext cx="59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2000"/>
              <a:buFont typeface="Arial"/>
              <a:buNone/>
            </a:pPr>
            <a:r>
              <a:rPr b="1" lang="en-US" sz="2000">
                <a:solidFill>
                  <a:srgbClr val="C01E4B"/>
                </a:solidFill>
              </a:rPr>
              <a:t>!</a:t>
            </a:r>
            <a:endParaRPr b="1" sz="2000" cap="none">
              <a:solidFill>
                <a:srgbClr val="C01E4B"/>
              </a:solidFill>
            </a:endParaRPr>
          </a:p>
        </p:txBody>
      </p:sp>
      <p:sp>
        <p:nvSpPr>
          <p:cNvPr id="292" name="Google Shape;292;p13"/>
          <p:cNvSpPr txBox="1"/>
          <p:nvPr/>
        </p:nvSpPr>
        <p:spPr>
          <a:xfrm>
            <a:off x="1508760" y="5321808"/>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NO LIVE INSTALL</a:t>
            </a:r>
            <a:endParaRPr b="1" sz="1600" cap="none">
              <a:solidFill>
                <a:srgbClr val="000B60"/>
              </a:solidFill>
            </a:endParaRPr>
          </a:p>
        </p:txBody>
      </p:sp>
      <p:sp>
        <p:nvSpPr>
          <p:cNvPr id="293" name="Google Shape;293;p13"/>
          <p:cNvSpPr txBox="1"/>
          <p:nvPr/>
        </p:nvSpPr>
        <p:spPr>
          <a:xfrm>
            <a:off x="4892040" y="5330952"/>
            <a:ext cx="658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400"/>
              <a:buFont typeface="Arial"/>
              <a:buNone/>
            </a:pPr>
            <a:r>
              <a:rPr lang="en-US">
                <a:solidFill>
                  <a:srgbClr val="1A2943"/>
                </a:solidFill>
              </a:rPr>
              <a:t>Use collected receipts and targeted reruns.</a:t>
            </a:r>
            <a:endParaRPr cap="none">
              <a:solidFill>
                <a:srgbClr val="1A2943"/>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8" name="Shape 298"/>
        <p:cNvGrpSpPr/>
        <p:nvPr/>
      </p:nvGrpSpPr>
      <p:grpSpPr>
        <a:xfrm>
          <a:off x="0" y="0"/>
          <a:ext cx="0" cy="0"/>
          <a:chOff x="0" y="0"/>
          <a:chExt cx="0" cy="0"/>
        </a:xfrm>
      </p:grpSpPr>
      <p:sp>
        <p:nvSpPr>
          <p:cNvPr id="299" name="Google Shape;299;p14"/>
          <p:cNvSpPr txBox="1"/>
          <p:nvPr/>
        </p:nvSpPr>
        <p:spPr>
          <a:xfrm>
            <a:off x="502920" y="6473952"/>
            <a:ext cx="6400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5"/>
              </a:buClr>
              <a:buSzPts val="900"/>
              <a:buFont typeface="Arial"/>
              <a:buNone/>
            </a:pPr>
            <a:r>
              <a:rPr lang="en-US" sz="900">
                <a:solidFill>
                  <a:srgbClr val="5A6B85"/>
                </a:solidFill>
              </a:rPr>
              <a:t>ATD 2026 · Completion Theater Hackathon</a:t>
            </a:r>
            <a:endParaRPr sz="900" cap="none">
              <a:solidFill>
                <a:srgbClr val="5A6B85"/>
              </a:solidFill>
            </a:endParaRPr>
          </a:p>
        </p:txBody>
      </p:sp>
      <p:sp>
        <p:nvSpPr>
          <p:cNvPr id="300" name="Google Shape;300;p14"/>
          <p:cNvSpPr txBox="1"/>
          <p:nvPr/>
        </p:nvSpPr>
        <p:spPr>
          <a:xfrm>
            <a:off x="11231575" y="647395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5"/>
              </a:buClr>
              <a:buSzPts val="900"/>
              <a:buFont typeface="Arial"/>
              <a:buNone/>
            </a:pPr>
            <a:r>
              <a:rPr lang="en-US" sz="900">
                <a:solidFill>
                  <a:srgbClr val="5A6B85"/>
                </a:solidFill>
              </a:rPr>
              <a:t>12</a:t>
            </a:r>
            <a:endParaRPr sz="900" cap="none">
              <a:solidFill>
                <a:srgbClr val="5A6B85"/>
              </a:solidFill>
            </a:endParaRPr>
          </a:p>
        </p:txBody>
      </p:sp>
      <p:sp>
        <p:nvSpPr>
          <p:cNvPr id="301" name="Google Shape;301;p14"/>
          <p:cNvSpPr txBox="1"/>
          <p:nvPr/>
        </p:nvSpPr>
        <p:spPr>
          <a:xfrm>
            <a:off x="502920" y="384048"/>
            <a:ext cx="111558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1200"/>
              <a:buFont typeface="Arial"/>
              <a:buNone/>
            </a:pPr>
            <a:r>
              <a:rPr b="1" lang="en-US" sz="1200">
                <a:solidFill>
                  <a:srgbClr val="C01E4B"/>
                </a:solidFill>
              </a:rPr>
              <a:t>23:00–23:15, LESSONS AND CLOSE</a:t>
            </a:r>
            <a:endParaRPr b="1" sz="1200" cap="none">
              <a:solidFill>
                <a:srgbClr val="C01E4B"/>
              </a:solidFill>
            </a:endParaRPr>
          </a:p>
        </p:txBody>
      </p:sp>
      <p:sp>
        <p:nvSpPr>
          <p:cNvPr id="302" name="Google Shape;302;p14"/>
          <p:cNvSpPr txBox="1"/>
          <p:nvPr/>
        </p:nvSpPr>
        <p:spPr>
          <a:xfrm>
            <a:off x="502920" y="676656"/>
            <a:ext cx="111558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3000"/>
              <a:buFont typeface="Arial"/>
              <a:buNone/>
            </a:pPr>
            <a:r>
              <a:rPr b="1" lang="en-US" sz="3000">
                <a:solidFill>
                  <a:srgbClr val="000B60"/>
                </a:solidFill>
              </a:rPr>
              <a:t>What changed your confidence?</a:t>
            </a:r>
            <a:endParaRPr b="1" sz="3000" cap="none">
              <a:solidFill>
                <a:srgbClr val="000B60"/>
              </a:solidFill>
            </a:endParaRPr>
          </a:p>
        </p:txBody>
      </p:sp>
      <p:sp>
        <p:nvSpPr>
          <p:cNvPr id="303" name="Google Shape;303;p14"/>
          <p:cNvSpPr txBox="1"/>
          <p:nvPr/>
        </p:nvSpPr>
        <p:spPr>
          <a:xfrm>
            <a:off x="502920" y="1783080"/>
            <a:ext cx="5120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5"/>
              </a:buClr>
              <a:buSzPts val="1200"/>
              <a:buFont typeface="Arial"/>
              <a:buNone/>
            </a:pPr>
            <a:r>
              <a:rPr b="1" lang="en-US" sz="1200">
                <a:solidFill>
                  <a:srgbClr val="5A6B85"/>
                </a:solidFill>
              </a:rPr>
              <a:t>TONIGHT'S INVESTIGATION</a:t>
            </a:r>
            <a:endParaRPr b="1" sz="1200" cap="none">
              <a:solidFill>
                <a:srgbClr val="5A6B85"/>
              </a:solidFill>
            </a:endParaRPr>
          </a:p>
        </p:txBody>
      </p:sp>
      <p:sp>
        <p:nvSpPr>
          <p:cNvPr id="304" name="Google Shape;304;p14"/>
          <p:cNvSpPr txBox="1"/>
          <p:nvPr/>
        </p:nvSpPr>
        <p:spPr>
          <a:xfrm>
            <a:off x="6537960" y="1783080"/>
            <a:ext cx="5120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1E4B"/>
              </a:buClr>
              <a:buSzPts val="1200"/>
              <a:buFont typeface="Arial"/>
              <a:buNone/>
            </a:pPr>
            <a:r>
              <a:rPr b="1" lang="en-US" sz="1200">
                <a:solidFill>
                  <a:srgbClr val="C01E4B"/>
                </a:solidFill>
              </a:rPr>
              <a:t>TOMORROW'S PRACTICE</a:t>
            </a:r>
            <a:endParaRPr b="1" sz="1200" cap="none">
              <a:solidFill>
                <a:srgbClr val="C01E4B"/>
              </a:solidFill>
            </a:endParaRPr>
          </a:p>
        </p:txBody>
      </p:sp>
      <p:sp>
        <p:nvSpPr>
          <p:cNvPr id="305" name="Google Shape;305;p14"/>
          <p:cNvSpPr/>
          <p:nvPr/>
        </p:nvSpPr>
        <p:spPr>
          <a:xfrm>
            <a:off x="502920" y="2240280"/>
            <a:ext cx="5394900" cy="1115700"/>
          </a:xfrm>
          <a:prstGeom prst="roundRect">
            <a:avLst>
              <a:gd fmla="val 4918"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4"/>
          <p:cNvSpPr txBox="1"/>
          <p:nvPr/>
        </p:nvSpPr>
        <p:spPr>
          <a:xfrm>
            <a:off x="777240" y="2386584"/>
            <a:ext cx="4846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A convincing claim</a:t>
            </a:r>
            <a:endParaRPr b="1" sz="1600" cap="none">
              <a:solidFill>
                <a:srgbClr val="000B60"/>
              </a:solidFill>
            </a:endParaRPr>
          </a:p>
        </p:txBody>
      </p:sp>
      <p:sp>
        <p:nvSpPr>
          <p:cNvPr id="307" name="Google Shape;307;p14"/>
          <p:cNvSpPr txBox="1"/>
          <p:nvPr/>
        </p:nvSpPr>
        <p:spPr>
          <a:xfrm>
            <a:off x="777240" y="2788920"/>
            <a:ext cx="48462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300"/>
              <a:buFont typeface="Arial"/>
              <a:buNone/>
            </a:pPr>
            <a:r>
              <a:rPr lang="en-US" sz="1300">
                <a:solidFill>
                  <a:srgbClr val="1A2943"/>
                </a:solidFill>
              </a:rPr>
              <a:t>Which claim changed when you checked it?</a:t>
            </a:r>
            <a:endParaRPr sz="1300" cap="none">
              <a:solidFill>
                <a:srgbClr val="1A2943"/>
              </a:solidFill>
            </a:endParaRPr>
          </a:p>
        </p:txBody>
      </p:sp>
      <p:sp>
        <p:nvSpPr>
          <p:cNvPr id="308" name="Google Shape;308;p14"/>
          <p:cNvSpPr/>
          <p:nvPr/>
        </p:nvSpPr>
        <p:spPr>
          <a:xfrm>
            <a:off x="5989320" y="2624328"/>
            <a:ext cx="457200" cy="347400"/>
          </a:xfrm>
          <a:prstGeom prst="rightArrow">
            <a:avLst>
              <a:gd fmla="val 50000" name="adj1"/>
              <a:gd fmla="val 50000" name="adj2"/>
            </a:avLst>
          </a:prstGeom>
          <a:solidFill>
            <a:srgbClr val="C01E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4"/>
          <p:cNvSpPr/>
          <p:nvPr/>
        </p:nvSpPr>
        <p:spPr>
          <a:xfrm>
            <a:off x="6537960" y="2240280"/>
            <a:ext cx="5166300" cy="1115700"/>
          </a:xfrm>
          <a:prstGeom prst="roundRect">
            <a:avLst>
              <a:gd fmla="val 4918" name="adj"/>
            </a:avLst>
          </a:prstGeom>
          <a:solidFill>
            <a:srgbClr val="000B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4"/>
          <p:cNvSpPr txBox="1"/>
          <p:nvPr/>
        </p:nvSpPr>
        <p:spPr>
          <a:xfrm>
            <a:off x="6812280" y="2496312"/>
            <a:ext cx="4617600" cy="685800"/>
          </a:xfrm>
          <a:prstGeom prst="rect">
            <a:avLst/>
          </a:prstGeom>
          <a:noFill/>
          <a:ln>
            <a:noFill/>
          </a:ln>
        </p:spPr>
        <p:txBody>
          <a:bodyPr anchorCtr="0" anchor="ctr" bIns="0" lIns="0" spcFirstLastPara="1" rIns="0" wrap="square" tIns="0">
            <a:noAutofit/>
          </a:bodyPr>
          <a:lstStyle/>
          <a:p>
            <a:pPr indent="0" lvl="0" marL="0" marR="0" rtl="0" algn="l">
              <a:lnSpc>
                <a:spcPct val="135714"/>
              </a:lnSpc>
              <a:spcBef>
                <a:spcPts val="0"/>
              </a:spcBef>
              <a:spcAft>
                <a:spcPts val="0"/>
              </a:spcAft>
              <a:buClr>
                <a:srgbClr val="FFFFFF"/>
              </a:buClr>
              <a:buSzPts val="1400"/>
              <a:buFont typeface="Arial"/>
              <a:buNone/>
            </a:pPr>
            <a:r>
              <a:rPr lang="en-US">
                <a:solidFill>
                  <a:srgbClr val="FFFFFF"/>
                </a:solidFill>
              </a:rPr>
              <a:t>Ask for the observation behind the summary</a:t>
            </a:r>
            <a:endParaRPr cap="none">
              <a:solidFill>
                <a:srgbClr val="FFFFFF"/>
              </a:solidFill>
            </a:endParaRPr>
          </a:p>
        </p:txBody>
      </p:sp>
      <p:sp>
        <p:nvSpPr>
          <p:cNvPr id="311" name="Google Shape;311;p14"/>
          <p:cNvSpPr/>
          <p:nvPr/>
        </p:nvSpPr>
        <p:spPr>
          <a:xfrm>
            <a:off x="502920" y="3538728"/>
            <a:ext cx="5394900" cy="1115700"/>
          </a:xfrm>
          <a:prstGeom prst="roundRect">
            <a:avLst>
              <a:gd fmla="val 4918"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4"/>
          <p:cNvSpPr txBox="1"/>
          <p:nvPr/>
        </p:nvSpPr>
        <p:spPr>
          <a:xfrm>
            <a:off x="777240" y="3685032"/>
            <a:ext cx="4846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A useful challenge</a:t>
            </a:r>
            <a:endParaRPr b="1" sz="1600" cap="none">
              <a:solidFill>
                <a:srgbClr val="000B60"/>
              </a:solidFill>
            </a:endParaRPr>
          </a:p>
        </p:txBody>
      </p:sp>
      <p:sp>
        <p:nvSpPr>
          <p:cNvPr id="313" name="Google Shape;313;p14"/>
          <p:cNvSpPr txBox="1"/>
          <p:nvPr/>
        </p:nvSpPr>
        <p:spPr>
          <a:xfrm>
            <a:off x="777240" y="4087368"/>
            <a:ext cx="48462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300"/>
              <a:buFont typeface="Arial"/>
              <a:buNone/>
            </a:pPr>
            <a:r>
              <a:rPr lang="en-US" sz="1300">
                <a:solidFill>
                  <a:srgbClr val="1A2943"/>
                </a:solidFill>
              </a:rPr>
              <a:t>Which negative control exposed a gap?</a:t>
            </a:r>
            <a:endParaRPr sz="1300" cap="none">
              <a:solidFill>
                <a:srgbClr val="1A2943"/>
              </a:solidFill>
            </a:endParaRPr>
          </a:p>
        </p:txBody>
      </p:sp>
      <p:sp>
        <p:nvSpPr>
          <p:cNvPr id="314" name="Google Shape;314;p14"/>
          <p:cNvSpPr/>
          <p:nvPr/>
        </p:nvSpPr>
        <p:spPr>
          <a:xfrm>
            <a:off x="5989320" y="3922776"/>
            <a:ext cx="457200" cy="347400"/>
          </a:xfrm>
          <a:prstGeom prst="rightArrow">
            <a:avLst>
              <a:gd fmla="val 50000" name="adj1"/>
              <a:gd fmla="val 50000" name="adj2"/>
            </a:avLst>
          </a:prstGeom>
          <a:solidFill>
            <a:srgbClr val="C01E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4"/>
          <p:cNvSpPr/>
          <p:nvPr/>
        </p:nvSpPr>
        <p:spPr>
          <a:xfrm>
            <a:off x="6537960" y="3538728"/>
            <a:ext cx="5166300" cy="1115700"/>
          </a:xfrm>
          <a:prstGeom prst="roundRect">
            <a:avLst>
              <a:gd fmla="val 4918" name="adj"/>
            </a:avLst>
          </a:prstGeom>
          <a:solidFill>
            <a:srgbClr val="000B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4"/>
          <p:cNvSpPr txBox="1"/>
          <p:nvPr/>
        </p:nvSpPr>
        <p:spPr>
          <a:xfrm>
            <a:off x="6812280" y="3794760"/>
            <a:ext cx="4617600" cy="685800"/>
          </a:xfrm>
          <a:prstGeom prst="rect">
            <a:avLst/>
          </a:prstGeom>
          <a:noFill/>
          <a:ln>
            <a:noFill/>
          </a:ln>
        </p:spPr>
        <p:txBody>
          <a:bodyPr anchorCtr="0" anchor="ctr" bIns="0" lIns="0" spcFirstLastPara="1" rIns="0" wrap="square" tIns="0">
            <a:noAutofit/>
          </a:bodyPr>
          <a:lstStyle/>
          <a:p>
            <a:pPr indent="0" lvl="0" marL="0" marR="0" rtl="0" algn="l">
              <a:lnSpc>
                <a:spcPct val="135714"/>
              </a:lnSpc>
              <a:spcBef>
                <a:spcPts val="0"/>
              </a:spcBef>
              <a:spcAft>
                <a:spcPts val="0"/>
              </a:spcAft>
              <a:buClr>
                <a:srgbClr val="FFFFFF"/>
              </a:buClr>
              <a:buSzPts val="1400"/>
              <a:buFont typeface="Arial"/>
              <a:buNone/>
            </a:pPr>
            <a:r>
              <a:rPr lang="en-US">
                <a:solidFill>
                  <a:srgbClr val="FFFFFF"/>
                </a:solidFill>
              </a:rPr>
              <a:t>Keep one check that can actually fail</a:t>
            </a:r>
            <a:endParaRPr cap="none">
              <a:solidFill>
                <a:srgbClr val="FFFFFF"/>
              </a:solidFill>
            </a:endParaRPr>
          </a:p>
        </p:txBody>
      </p:sp>
      <p:sp>
        <p:nvSpPr>
          <p:cNvPr id="317" name="Google Shape;317;p14"/>
          <p:cNvSpPr/>
          <p:nvPr/>
        </p:nvSpPr>
        <p:spPr>
          <a:xfrm>
            <a:off x="502920" y="4837176"/>
            <a:ext cx="5394900" cy="1115700"/>
          </a:xfrm>
          <a:prstGeom prst="roundRect">
            <a:avLst>
              <a:gd fmla="val 4918"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4"/>
          <p:cNvSpPr txBox="1"/>
          <p:nvPr/>
        </p:nvSpPr>
        <p:spPr>
          <a:xfrm>
            <a:off x="777240" y="4983480"/>
            <a:ext cx="4846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B60"/>
              </a:buClr>
              <a:buSzPts val="1600"/>
              <a:buFont typeface="Arial"/>
              <a:buNone/>
            </a:pPr>
            <a:r>
              <a:rPr b="1" lang="en-US" sz="1600">
                <a:solidFill>
                  <a:srgbClr val="000B60"/>
                </a:solidFill>
              </a:rPr>
              <a:t>An independent perspective</a:t>
            </a:r>
            <a:endParaRPr b="1" sz="1600" cap="none">
              <a:solidFill>
                <a:srgbClr val="000B60"/>
              </a:solidFill>
            </a:endParaRPr>
          </a:p>
        </p:txBody>
      </p:sp>
      <p:sp>
        <p:nvSpPr>
          <p:cNvPr id="319" name="Google Shape;319;p14"/>
          <p:cNvSpPr txBox="1"/>
          <p:nvPr/>
        </p:nvSpPr>
        <p:spPr>
          <a:xfrm>
            <a:off x="777240" y="5385816"/>
            <a:ext cx="48462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943"/>
              </a:buClr>
              <a:buSzPts val="1300"/>
              <a:buFont typeface="Arial"/>
              <a:buNone/>
            </a:pPr>
            <a:r>
              <a:rPr lang="en-US" sz="1300">
                <a:solidFill>
                  <a:srgbClr val="1A2943"/>
                </a:solidFill>
              </a:rPr>
              <a:t>What did another team notice?</a:t>
            </a:r>
            <a:endParaRPr sz="1300" cap="none">
              <a:solidFill>
                <a:srgbClr val="1A2943"/>
              </a:solidFill>
            </a:endParaRPr>
          </a:p>
        </p:txBody>
      </p:sp>
      <p:sp>
        <p:nvSpPr>
          <p:cNvPr id="320" name="Google Shape;320;p14"/>
          <p:cNvSpPr/>
          <p:nvPr/>
        </p:nvSpPr>
        <p:spPr>
          <a:xfrm>
            <a:off x="5989320" y="5221224"/>
            <a:ext cx="457200" cy="347400"/>
          </a:xfrm>
          <a:prstGeom prst="rightArrow">
            <a:avLst>
              <a:gd fmla="val 50000" name="adj1"/>
              <a:gd fmla="val 50000" name="adj2"/>
            </a:avLst>
          </a:prstGeom>
          <a:solidFill>
            <a:srgbClr val="C01E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4"/>
          <p:cNvSpPr/>
          <p:nvPr/>
        </p:nvSpPr>
        <p:spPr>
          <a:xfrm>
            <a:off x="6537960" y="4837176"/>
            <a:ext cx="5166300" cy="1115700"/>
          </a:xfrm>
          <a:prstGeom prst="roundRect">
            <a:avLst>
              <a:gd fmla="val 4918" name="adj"/>
            </a:avLst>
          </a:prstGeom>
          <a:solidFill>
            <a:srgbClr val="000B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4"/>
          <p:cNvSpPr txBox="1"/>
          <p:nvPr/>
        </p:nvSpPr>
        <p:spPr>
          <a:xfrm>
            <a:off x="6812280" y="5093208"/>
            <a:ext cx="4617600" cy="685800"/>
          </a:xfrm>
          <a:prstGeom prst="rect">
            <a:avLst/>
          </a:prstGeom>
          <a:noFill/>
          <a:ln>
            <a:noFill/>
          </a:ln>
        </p:spPr>
        <p:txBody>
          <a:bodyPr anchorCtr="0" anchor="ctr" bIns="0" lIns="0" spcFirstLastPara="1" rIns="0" wrap="square" tIns="0">
            <a:noAutofit/>
          </a:bodyPr>
          <a:lstStyle/>
          <a:p>
            <a:pPr indent="0" lvl="0" marL="0" marR="0" rtl="0" algn="l">
              <a:lnSpc>
                <a:spcPct val="135714"/>
              </a:lnSpc>
              <a:spcBef>
                <a:spcPts val="0"/>
              </a:spcBef>
              <a:spcAft>
                <a:spcPts val="0"/>
              </a:spcAft>
              <a:buClr>
                <a:srgbClr val="FFFFFF"/>
              </a:buClr>
              <a:buSzPts val="1400"/>
              <a:buFont typeface="Arial"/>
              <a:buNone/>
            </a:pPr>
            <a:r>
              <a:rPr lang="en-US">
                <a:solidFill>
                  <a:srgbClr val="FFFFFF"/>
                </a:solidFill>
              </a:rPr>
              <a:t>Carry one evidence habit into your next review</a:t>
            </a:r>
            <a:endParaRPr cap="none">
              <a:solidFill>
                <a:srgbClr val="FFFFFF"/>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